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74" r:id="rId2"/>
    <p:sldId id="257" r:id="rId3"/>
    <p:sldId id="277" r:id="rId4"/>
    <p:sldId id="259" r:id="rId5"/>
    <p:sldId id="260" r:id="rId6"/>
    <p:sldId id="278" r:id="rId7"/>
    <p:sldId id="275" r:id="rId8"/>
    <p:sldId id="263" r:id="rId9"/>
    <p:sldId id="264" r:id="rId10"/>
    <p:sldId id="283" r:id="rId11"/>
    <p:sldId id="279" r:id="rId12"/>
    <p:sldId id="280" r:id="rId13"/>
    <p:sldId id="282" r:id="rId14"/>
    <p:sldId id="269" r:id="rId15"/>
    <p:sldId id="270" r:id="rId16"/>
    <p:sldId id="272" r:id="rId17"/>
    <p:sldId id="276"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5514" autoAdjust="0"/>
  </p:normalViewPr>
  <p:slideViewPr>
    <p:cSldViewPr snapToGrid="0">
      <p:cViewPr varScale="1">
        <p:scale>
          <a:sx n="91" d="100"/>
          <a:sy n="91" d="100"/>
        </p:scale>
        <p:origin x="370" y="6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5D18E5-355E-4147-97F0-D08F7445E620}" type="datetimeFigureOut">
              <a:rPr lang="en-IN" smtClean="0"/>
              <a:t>21-03-2026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169C92-63C7-4FE8-863A-B8535A9EC330}" type="slidenum">
              <a:rPr lang="en-IN" smtClean="0"/>
              <a:t>‹#›</a:t>
            </a:fld>
            <a:endParaRPr lang="en-IN"/>
          </a:p>
        </p:txBody>
      </p:sp>
    </p:spTree>
    <p:extLst>
      <p:ext uri="{BB962C8B-B14F-4D97-AF65-F5344CB8AC3E}">
        <p14:creationId xmlns:p14="http://schemas.microsoft.com/office/powerpoint/2010/main" val="1769073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B169C92-63C7-4FE8-863A-B8535A9EC330}" type="slidenum">
              <a:rPr lang="en-IN" smtClean="0"/>
              <a:t>1</a:t>
            </a:fld>
            <a:endParaRPr lang="en-IN"/>
          </a:p>
        </p:txBody>
      </p:sp>
    </p:spTree>
    <p:extLst>
      <p:ext uri="{BB962C8B-B14F-4D97-AF65-F5344CB8AC3E}">
        <p14:creationId xmlns:p14="http://schemas.microsoft.com/office/powerpoint/2010/main" val="3085105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B169C92-63C7-4FE8-863A-B8535A9EC330}" type="slidenum">
              <a:rPr lang="en-IN" smtClean="0"/>
              <a:t>5</a:t>
            </a:fld>
            <a:endParaRPr lang="en-IN"/>
          </a:p>
        </p:txBody>
      </p:sp>
    </p:spTree>
    <p:extLst>
      <p:ext uri="{BB962C8B-B14F-4D97-AF65-F5344CB8AC3E}">
        <p14:creationId xmlns:p14="http://schemas.microsoft.com/office/powerpoint/2010/main" val="4206166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52603-6549-8476-A8B0-CBFFB2C477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0DACF5-39E6-61F5-35F8-0AE2F51AEF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E5E039-4953-A287-F5EF-9616D71956D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9EC169F-3BEC-91B8-F8E4-E6B23F734B16}"/>
              </a:ext>
            </a:extLst>
          </p:cNvPr>
          <p:cNvSpPr>
            <a:spLocks noGrp="1"/>
          </p:cNvSpPr>
          <p:nvPr>
            <p:ph type="sldNum" sz="quarter" idx="5"/>
          </p:nvPr>
        </p:nvSpPr>
        <p:spPr/>
        <p:txBody>
          <a:bodyPr/>
          <a:lstStyle/>
          <a:p>
            <a:fld id="{6B169C92-63C7-4FE8-863A-B8535A9EC330}" type="slidenum">
              <a:rPr lang="en-IN" smtClean="0"/>
              <a:t>10</a:t>
            </a:fld>
            <a:endParaRPr lang="en-IN"/>
          </a:p>
        </p:txBody>
      </p:sp>
    </p:spTree>
    <p:extLst>
      <p:ext uri="{BB962C8B-B14F-4D97-AF65-F5344CB8AC3E}">
        <p14:creationId xmlns:p14="http://schemas.microsoft.com/office/powerpoint/2010/main" val="3946825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After all preprocessing steps, you used 39 features for training.</a:t>
            </a:r>
            <a:endParaRPr lang="en-US" dirty="0">
              <a:effectLst/>
            </a:endParaRPr>
          </a:p>
          <a:p>
            <a:r>
              <a:rPr lang="en-US" dirty="0">
                <a:effectLst/>
              </a:rPr>
              <a:t>Here's how you arrived at 39:</a:t>
            </a:r>
          </a:p>
          <a:p>
            <a:r>
              <a:rPr lang="en-US" dirty="0">
                <a:effectLst/>
              </a:rPr>
              <a:t>Original dataset had </a:t>
            </a:r>
            <a:r>
              <a:rPr lang="en-US" b="1" dirty="0">
                <a:effectLst/>
              </a:rPr>
              <a:t>45 columns</a:t>
            </a:r>
            <a:endParaRPr lang="en-US" dirty="0">
              <a:effectLst/>
            </a:endParaRPr>
          </a:p>
          <a:p>
            <a:r>
              <a:rPr lang="en-US" dirty="0">
                <a:effectLst/>
              </a:rPr>
              <a:t>Dropped </a:t>
            </a:r>
            <a:r>
              <a:rPr lang="en-US" sz="1200" kern="1200" dirty="0">
                <a:solidFill>
                  <a:schemeClr val="tx1"/>
                </a:solidFill>
                <a:effectLst/>
                <a:latin typeface="+mn-lt"/>
                <a:ea typeface="+mn-ea"/>
                <a:cs typeface="+mn-cs"/>
              </a:rPr>
              <a:t>id</a:t>
            </a:r>
            <a:r>
              <a:rPr lang="en-US" dirty="0">
                <a:effectLst/>
              </a:rPr>
              <a:t> and </a:t>
            </a:r>
            <a:r>
              <a:rPr lang="en-US" sz="1200" kern="1200" dirty="0" err="1">
                <a:solidFill>
                  <a:schemeClr val="tx1"/>
                </a:solidFill>
                <a:effectLst/>
                <a:latin typeface="+mn-lt"/>
                <a:ea typeface="+mn-ea"/>
                <a:cs typeface="+mn-cs"/>
              </a:rPr>
              <a:t>attack_cat</a:t>
            </a:r>
            <a:r>
              <a:rPr lang="en-US" dirty="0">
                <a:effectLst/>
              </a:rPr>
              <a:t> → </a:t>
            </a:r>
            <a:r>
              <a:rPr lang="en-US" b="1" dirty="0">
                <a:effectLst/>
              </a:rPr>
              <a:t>43 columns</a:t>
            </a:r>
            <a:endParaRPr lang="en-US" dirty="0">
              <a:effectLst/>
            </a:endParaRPr>
          </a:p>
          <a:p>
            <a:r>
              <a:rPr lang="en-US" dirty="0">
                <a:effectLst/>
              </a:rPr>
              <a:t>Dropped 7 highly correlated features (</a:t>
            </a:r>
            <a:r>
              <a:rPr lang="en-US" sz="1200" kern="1200" dirty="0" err="1">
                <a:solidFill>
                  <a:schemeClr val="tx1"/>
                </a:solidFill>
                <a:effectLst/>
                <a:latin typeface="+mn-lt"/>
                <a:ea typeface="+mn-ea"/>
                <a:cs typeface="+mn-cs"/>
              </a:rPr>
              <a:t>sloss</a:t>
            </a:r>
            <a:r>
              <a:rPr lang="en-US" dirty="0">
                <a:effectLst/>
              </a:rPr>
              <a:t>, </a:t>
            </a:r>
            <a:r>
              <a:rPr lang="en-US" sz="1200" kern="1200" dirty="0" err="1">
                <a:solidFill>
                  <a:schemeClr val="tx1"/>
                </a:solidFill>
                <a:effectLst/>
                <a:latin typeface="+mn-lt"/>
                <a:ea typeface="+mn-ea"/>
                <a:cs typeface="+mn-cs"/>
              </a:rPr>
              <a:t>ct_srv_dst</a:t>
            </a:r>
            <a:r>
              <a:rPr lang="en-US" dirty="0">
                <a:effectLst/>
              </a:rPr>
              <a:t>, </a:t>
            </a:r>
            <a:r>
              <a:rPr lang="en-US" sz="1200" kern="1200" dirty="0" err="1">
                <a:solidFill>
                  <a:schemeClr val="tx1"/>
                </a:solidFill>
                <a:effectLst/>
                <a:latin typeface="+mn-lt"/>
                <a:ea typeface="+mn-ea"/>
                <a:cs typeface="+mn-cs"/>
              </a:rPr>
              <a:t>ct_src_dport_ltm</a:t>
            </a:r>
            <a:r>
              <a:rPr lang="en-US" dirty="0">
                <a:effectLst/>
              </a:rPr>
              <a:t>, </a:t>
            </a:r>
            <a:r>
              <a:rPr lang="en-US" sz="1200" kern="1200" dirty="0" err="1">
                <a:solidFill>
                  <a:schemeClr val="tx1"/>
                </a:solidFill>
                <a:effectLst/>
                <a:latin typeface="+mn-lt"/>
                <a:ea typeface="+mn-ea"/>
                <a:cs typeface="+mn-cs"/>
              </a:rPr>
              <a:t>dpkts</a:t>
            </a:r>
            <a:r>
              <a:rPr lang="en-US" dirty="0">
                <a:effectLst/>
              </a:rPr>
              <a:t>, </a:t>
            </a:r>
            <a:r>
              <a:rPr lang="en-US" sz="1200" kern="1200" dirty="0" err="1">
                <a:solidFill>
                  <a:schemeClr val="tx1"/>
                </a:solidFill>
                <a:effectLst/>
                <a:latin typeface="+mn-lt"/>
                <a:ea typeface="+mn-ea"/>
                <a:cs typeface="+mn-cs"/>
              </a:rPr>
              <a:t>ltime</a:t>
            </a:r>
            <a:r>
              <a:rPr lang="en-US" dirty="0">
                <a:effectLst/>
              </a:rPr>
              <a:t>, </a:t>
            </a:r>
            <a:r>
              <a:rPr lang="en-US" sz="1200" kern="1200" dirty="0" err="1">
                <a:solidFill>
                  <a:schemeClr val="tx1"/>
                </a:solidFill>
                <a:effectLst/>
                <a:latin typeface="+mn-lt"/>
                <a:ea typeface="+mn-ea"/>
                <a:cs typeface="+mn-cs"/>
              </a:rPr>
              <a:t>dloss</a:t>
            </a:r>
            <a:r>
              <a:rPr lang="en-US" dirty="0">
                <a:effectLst/>
              </a:rPr>
              <a:t>, </a:t>
            </a:r>
            <a:r>
              <a:rPr lang="en-US" sz="1200" kern="1200" dirty="0" err="1">
                <a:solidFill>
                  <a:schemeClr val="tx1"/>
                </a:solidFill>
                <a:effectLst/>
                <a:latin typeface="+mn-lt"/>
                <a:ea typeface="+mn-ea"/>
                <a:cs typeface="+mn-cs"/>
              </a:rPr>
              <a:t>ct_dst_src_ltm</a:t>
            </a:r>
            <a:r>
              <a:rPr lang="en-US" dirty="0">
                <a:effectLst/>
              </a:rPr>
              <a:t>) → </a:t>
            </a:r>
            <a:r>
              <a:rPr lang="en-US" b="1" dirty="0">
                <a:effectLst/>
              </a:rPr>
              <a:t>36 columns</a:t>
            </a:r>
            <a:endParaRPr lang="en-US" dirty="0">
              <a:effectLst/>
            </a:endParaRPr>
          </a:p>
          <a:p>
            <a:r>
              <a:rPr lang="en-US" dirty="0">
                <a:effectLst/>
              </a:rPr>
              <a:t>Added 6 new engineered features (</a:t>
            </a:r>
            <a:r>
              <a:rPr lang="en-US" sz="1200" kern="1200" dirty="0" err="1">
                <a:solidFill>
                  <a:schemeClr val="tx1"/>
                </a:solidFill>
                <a:effectLst/>
                <a:latin typeface="+mn-lt"/>
                <a:ea typeface="+mn-ea"/>
                <a:cs typeface="+mn-cs"/>
              </a:rPr>
              <a:t>network_bytes</a:t>
            </a:r>
            <a:r>
              <a:rPr lang="en-US" dirty="0">
                <a:effectLst/>
              </a:rPr>
              <a:t>, </a:t>
            </a:r>
            <a:r>
              <a:rPr lang="en-US" sz="1200" kern="1200" dirty="0" err="1">
                <a:solidFill>
                  <a:schemeClr val="tx1"/>
                </a:solidFill>
                <a:effectLst/>
                <a:latin typeface="+mn-lt"/>
                <a:ea typeface="+mn-ea"/>
                <a:cs typeface="+mn-cs"/>
              </a:rPr>
              <a:t>byte_ratio</a:t>
            </a:r>
            <a:r>
              <a:rPr lang="en-US" dirty="0">
                <a:effectLst/>
              </a:rPr>
              <a:t>, </a:t>
            </a:r>
            <a:r>
              <a:rPr lang="en-US" sz="1200" kern="1200" dirty="0" err="1">
                <a:solidFill>
                  <a:schemeClr val="tx1"/>
                </a:solidFill>
                <a:effectLst/>
                <a:latin typeface="+mn-lt"/>
                <a:ea typeface="+mn-ea"/>
                <a:cs typeface="+mn-cs"/>
              </a:rPr>
              <a:t>packet_ratio</a:t>
            </a:r>
            <a:r>
              <a:rPr lang="en-US" dirty="0">
                <a:effectLst/>
              </a:rPr>
              <a:t>, </a:t>
            </a:r>
            <a:r>
              <a:rPr lang="en-US" sz="1200" kern="1200" dirty="0" err="1">
                <a:solidFill>
                  <a:schemeClr val="tx1"/>
                </a:solidFill>
                <a:effectLst/>
                <a:latin typeface="+mn-lt"/>
                <a:ea typeface="+mn-ea"/>
                <a:cs typeface="+mn-cs"/>
              </a:rPr>
              <a:t>duration_per_byte</a:t>
            </a:r>
            <a:r>
              <a:rPr lang="en-US" dirty="0">
                <a:effectLst/>
              </a:rPr>
              <a:t>, </a:t>
            </a:r>
            <a:r>
              <a:rPr lang="en-US" sz="1200" kern="1200" dirty="0" err="1">
                <a:solidFill>
                  <a:schemeClr val="tx1"/>
                </a:solidFill>
                <a:effectLst/>
                <a:latin typeface="+mn-lt"/>
                <a:ea typeface="+mn-ea"/>
                <a:cs typeface="+mn-cs"/>
              </a:rPr>
              <a:t>bytes_per_packet</a:t>
            </a:r>
            <a:r>
              <a:rPr lang="en-US" dirty="0">
                <a:effectLst/>
              </a:rPr>
              <a:t>, </a:t>
            </a:r>
            <a:r>
              <a:rPr lang="en-US" sz="1200" kern="1200" dirty="0" err="1">
                <a:solidFill>
                  <a:schemeClr val="tx1"/>
                </a:solidFill>
                <a:effectLst/>
                <a:latin typeface="+mn-lt"/>
                <a:ea typeface="+mn-ea"/>
                <a:cs typeface="+mn-cs"/>
              </a:rPr>
              <a:t>load_ratio</a:t>
            </a:r>
            <a:r>
              <a:rPr lang="en-US" dirty="0">
                <a:effectLst/>
              </a:rPr>
              <a:t>) → </a:t>
            </a:r>
            <a:r>
              <a:rPr lang="en-US" b="1" dirty="0">
                <a:effectLst/>
              </a:rPr>
              <a:t>42 columns</a:t>
            </a:r>
            <a:endParaRPr lang="en-US" dirty="0">
              <a:effectLst/>
            </a:endParaRPr>
          </a:p>
          <a:p>
            <a:r>
              <a:rPr lang="en-US" dirty="0">
                <a:effectLst/>
              </a:rPr>
              <a:t>After One-Hot Encoding </a:t>
            </a:r>
            <a:r>
              <a:rPr lang="en-US" sz="1200" kern="1200" dirty="0">
                <a:solidFill>
                  <a:schemeClr val="tx1"/>
                </a:solidFill>
                <a:effectLst/>
                <a:latin typeface="+mn-lt"/>
                <a:ea typeface="+mn-ea"/>
                <a:cs typeface="+mn-cs"/>
              </a:rPr>
              <a:t>proto</a:t>
            </a:r>
            <a:r>
              <a:rPr lang="en-US" dirty="0">
                <a:effectLst/>
              </a:rPr>
              <a:t>, </a:t>
            </a:r>
            <a:r>
              <a:rPr lang="en-US" sz="1200" kern="1200" dirty="0">
                <a:solidFill>
                  <a:schemeClr val="tx1"/>
                </a:solidFill>
                <a:effectLst/>
                <a:latin typeface="+mn-lt"/>
                <a:ea typeface="+mn-ea"/>
                <a:cs typeface="+mn-cs"/>
              </a:rPr>
              <a:t>service</a:t>
            </a:r>
            <a:r>
              <a:rPr lang="en-US" dirty="0">
                <a:effectLst/>
              </a:rPr>
              <a:t>, </a:t>
            </a:r>
            <a:r>
              <a:rPr lang="en-US" sz="1200" kern="1200" dirty="0">
                <a:solidFill>
                  <a:schemeClr val="tx1"/>
                </a:solidFill>
                <a:effectLst/>
                <a:latin typeface="+mn-lt"/>
                <a:ea typeface="+mn-ea"/>
                <a:cs typeface="+mn-cs"/>
              </a:rPr>
              <a:t>state</a:t>
            </a:r>
            <a:r>
              <a:rPr lang="en-US" dirty="0">
                <a:effectLst/>
              </a:rPr>
              <a:t> — these 3 categorical columns expanded into multiple binary columns bringing the total to </a:t>
            </a:r>
            <a:r>
              <a:rPr lang="en-US" b="1" dirty="0">
                <a:effectLst/>
              </a:rPr>
              <a:t>40 columns</a:t>
            </a:r>
            <a:endParaRPr lang="en-US" dirty="0">
              <a:effectLst/>
            </a:endParaRPr>
          </a:p>
          <a:p>
            <a:r>
              <a:rPr lang="en-US" dirty="0">
                <a:effectLst/>
              </a:rPr>
              <a:t>Out of 40 — 1 is the target label </a:t>
            </a:r>
            <a:r>
              <a:rPr lang="en-US" sz="1200" kern="1200" dirty="0">
                <a:solidFill>
                  <a:schemeClr val="tx1"/>
                </a:solidFill>
                <a:effectLst/>
                <a:latin typeface="+mn-lt"/>
                <a:ea typeface="+mn-ea"/>
                <a:cs typeface="+mn-cs"/>
              </a:rPr>
              <a:t>y</a:t>
            </a:r>
            <a:r>
              <a:rPr lang="en-US" dirty="0">
                <a:effectLst/>
              </a:rPr>
              <a:t> → </a:t>
            </a:r>
            <a:r>
              <a:rPr lang="en-US" b="1" dirty="0">
                <a:effectLst/>
              </a:rPr>
              <a:t>39 features for X</a:t>
            </a:r>
            <a:endParaRPr lang="en-US" dirty="0">
              <a:effectLst/>
            </a:endParaRPr>
          </a:p>
          <a:p>
            <a:r>
              <a:rPr lang="en-US" dirty="0">
                <a:effectLst/>
              </a:rPr>
              <a:t>So your final training input is:</a:t>
            </a:r>
          </a:p>
          <a:p>
            <a:r>
              <a:rPr lang="en-US" b="1" dirty="0">
                <a:effectLst/>
              </a:rPr>
              <a:t>X shape: 257,673 rows × 39 features</a:t>
            </a:r>
            <a:endParaRPr lang="en-US" dirty="0">
              <a:effectLst/>
            </a:endParaRPr>
          </a:p>
          <a:p>
            <a:r>
              <a:rPr lang="en-US" b="1" dirty="0">
                <a:effectLst/>
              </a:rPr>
              <a:t>y shape: 257,673 labels</a:t>
            </a:r>
            <a:r>
              <a:rPr lang="en-US" dirty="0">
                <a:effectLst/>
              </a:rPr>
              <a:t> (0 = Normal, 1 = Attack)</a:t>
            </a:r>
          </a:p>
          <a:p>
            <a:r>
              <a:rPr lang="en-US" dirty="0">
                <a:effectLst/>
              </a:rPr>
              <a:t>Here's exactly why you added each of the 6 new features:</a:t>
            </a:r>
          </a:p>
          <a:p>
            <a:br>
              <a:rPr lang="en-US" dirty="0">
                <a:effectLst/>
              </a:rPr>
            </a:br>
            <a:endParaRPr lang="en-US" dirty="0">
              <a:effectLst/>
            </a:endParaRPr>
          </a:p>
          <a:p>
            <a:r>
              <a:rPr lang="en-US" b="1" dirty="0">
                <a:effectLst/>
              </a:rPr>
              <a:t>The core reason</a:t>
            </a:r>
            <a:r>
              <a:rPr lang="en-US" dirty="0">
                <a:effectLst/>
              </a:rPr>
              <a:t> — the original features only give you raw counts like total source bytes, total destination bytes, total packets separately. But attack traffic behaves differently in terms of </a:t>
            </a:r>
            <a:r>
              <a:rPr lang="en-US" b="1" dirty="0">
                <a:effectLst/>
              </a:rPr>
              <a:t>ratios and relationships</a:t>
            </a:r>
            <a:r>
              <a:rPr lang="en-US" dirty="0">
                <a:effectLst/>
              </a:rPr>
              <a:t> between source and destination. So you created features that capture that relationship.</a:t>
            </a:r>
          </a:p>
          <a:p>
            <a:br>
              <a:rPr lang="en-US" dirty="0">
                <a:effectLst/>
              </a:rPr>
            </a:br>
            <a:endParaRPr lang="en-US" dirty="0">
              <a:effectLst/>
            </a:endParaRPr>
          </a:p>
          <a:p>
            <a:r>
              <a:rPr lang="en-US" b="1" dirty="0">
                <a:effectLst/>
              </a:rPr>
              <a:t>1. </a:t>
            </a:r>
            <a:r>
              <a:rPr lang="en-US" sz="1200" b="1" kern="1200" dirty="0" err="1">
                <a:solidFill>
                  <a:schemeClr val="tx1"/>
                </a:solidFill>
                <a:effectLst/>
                <a:latin typeface="+mn-lt"/>
                <a:ea typeface="+mn-ea"/>
                <a:cs typeface="+mn-cs"/>
              </a:rPr>
              <a:t>network_bytes</a:t>
            </a:r>
            <a:r>
              <a:rPr lang="en-US" b="1" dirty="0">
                <a:effectLst/>
              </a:rPr>
              <a:t> = </a:t>
            </a:r>
            <a:r>
              <a:rPr lang="en-US" b="1" dirty="0" err="1">
                <a:effectLst/>
              </a:rPr>
              <a:t>sbytes</a:t>
            </a:r>
            <a:r>
              <a:rPr lang="en-US" b="1" dirty="0">
                <a:effectLst/>
              </a:rPr>
              <a:t> + </a:t>
            </a:r>
            <a:r>
              <a:rPr lang="en-US" b="1" dirty="0" err="1">
                <a:effectLst/>
              </a:rPr>
              <a:t>dbytes</a:t>
            </a:r>
            <a:endParaRPr lang="en-US" dirty="0">
              <a:effectLst/>
            </a:endParaRPr>
          </a:p>
          <a:p>
            <a:r>
              <a:rPr lang="en-US" dirty="0">
                <a:effectLst/>
              </a:rPr>
              <a:t>Original dataset had source bytes and destination bytes separately</a:t>
            </a:r>
          </a:p>
          <a:p>
            <a:r>
              <a:rPr lang="en-US" dirty="0">
                <a:effectLst/>
              </a:rPr>
              <a:t>we combined them to get the </a:t>
            </a:r>
            <a:r>
              <a:rPr lang="en-US" b="1" dirty="0">
                <a:effectLst/>
              </a:rPr>
              <a:t>total volume of data transferred</a:t>
            </a:r>
            <a:r>
              <a:rPr lang="en-US" dirty="0">
                <a:effectLst/>
              </a:rPr>
              <a:t> in a connection</a:t>
            </a:r>
          </a:p>
          <a:p>
            <a:r>
              <a:rPr lang="en-US" dirty="0">
                <a:effectLst/>
              </a:rPr>
              <a:t>Attack traffic like DoS generates abnormally high total bytes — this single number captures that immediately</a:t>
            </a:r>
          </a:p>
          <a:p>
            <a:endParaRPr lang="en-US" dirty="0">
              <a:effectLst/>
            </a:endParaRPr>
          </a:p>
          <a:p>
            <a:r>
              <a:rPr lang="en-US" b="1" dirty="0">
                <a:effectLst/>
              </a:rPr>
              <a:t>2. </a:t>
            </a:r>
            <a:r>
              <a:rPr lang="en-US" sz="1200" b="1" kern="1200" dirty="0" err="1">
                <a:solidFill>
                  <a:schemeClr val="tx1"/>
                </a:solidFill>
                <a:effectLst/>
                <a:latin typeface="+mn-lt"/>
                <a:ea typeface="+mn-ea"/>
                <a:cs typeface="+mn-cs"/>
              </a:rPr>
              <a:t>byte_ratio</a:t>
            </a:r>
            <a:r>
              <a:rPr lang="en-US" b="1" dirty="0">
                <a:effectLst/>
              </a:rPr>
              <a:t> = </a:t>
            </a:r>
            <a:r>
              <a:rPr lang="en-US" b="1" dirty="0" err="1">
                <a:effectLst/>
              </a:rPr>
              <a:t>sbytes</a:t>
            </a:r>
            <a:r>
              <a:rPr lang="en-US" b="1" dirty="0">
                <a:effectLst/>
              </a:rPr>
              <a:t> / (</a:t>
            </a:r>
            <a:r>
              <a:rPr lang="en-US" b="1" dirty="0" err="1">
                <a:effectLst/>
              </a:rPr>
              <a:t>dbytes</a:t>
            </a:r>
            <a:r>
              <a:rPr lang="en-US" b="1" dirty="0">
                <a:effectLst/>
              </a:rPr>
              <a:t> + 1)</a:t>
            </a:r>
            <a:endParaRPr lang="en-US" dirty="0">
              <a:effectLst/>
            </a:endParaRPr>
          </a:p>
          <a:p>
            <a:r>
              <a:rPr lang="en-US" dirty="0">
                <a:effectLst/>
              </a:rPr>
              <a:t>Measures </a:t>
            </a:r>
            <a:r>
              <a:rPr lang="en-US" b="1" dirty="0">
                <a:effectLst/>
              </a:rPr>
              <a:t>how dominant the source is over the destination</a:t>
            </a:r>
            <a:r>
              <a:rPr lang="en-US" dirty="0">
                <a:effectLst/>
              </a:rPr>
              <a:t> in terms of data sent</a:t>
            </a:r>
          </a:p>
          <a:p>
            <a:r>
              <a:rPr lang="en-US" dirty="0">
                <a:effectLst/>
              </a:rPr>
              <a:t>In a normal two-way conversation, this ratio is balanced</a:t>
            </a:r>
          </a:p>
          <a:p>
            <a:r>
              <a:rPr lang="en-US" dirty="0">
                <a:effectLst/>
              </a:rPr>
              <a:t>In attacks like DoS, the attacker sends massive data but receives very little back — so this ratio becomes very high or very low, making it a strong attack indicator</a:t>
            </a:r>
          </a:p>
          <a:p>
            <a:endParaRPr lang="en-US" dirty="0">
              <a:effectLst/>
            </a:endParaRPr>
          </a:p>
          <a:p>
            <a:r>
              <a:rPr lang="en-US" b="1" dirty="0">
                <a:effectLst/>
              </a:rPr>
              <a:t>3. </a:t>
            </a:r>
            <a:r>
              <a:rPr lang="en-US" sz="1200" b="1" kern="1200" dirty="0" err="1">
                <a:solidFill>
                  <a:schemeClr val="tx1"/>
                </a:solidFill>
                <a:effectLst/>
                <a:latin typeface="+mn-lt"/>
                <a:ea typeface="+mn-ea"/>
                <a:cs typeface="+mn-cs"/>
              </a:rPr>
              <a:t>packet_ratio</a:t>
            </a:r>
            <a:r>
              <a:rPr lang="en-US" b="1" dirty="0">
                <a:effectLst/>
              </a:rPr>
              <a:t> = </a:t>
            </a:r>
            <a:r>
              <a:rPr lang="en-US" b="1" dirty="0" err="1">
                <a:effectLst/>
              </a:rPr>
              <a:t>spkts</a:t>
            </a:r>
            <a:r>
              <a:rPr lang="en-US" b="1" dirty="0">
                <a:effectLst/>
              </a:rPr>
              <a:t> / (</a:t>
            </a:r>
            <a:r>
              <a:rPr lang="en-US" b="1" dirty="0" err="1">
                <a:effectLst/>
              </a:rPr>
              <a:t>dpkts</a:t>
            </a:r>
            <a:r>
              <a:rPr lang="en-US" b="1" dirty="0">
                <a:effectLst/>
              </a:rPr>
              <a:t> + 1)</a:t>
            </a:r>
            <a:endParaRPr lang="en-US" dirty="0">
              <a:effectLst/>
            </a:endParaRPr>
          </a:p>
          <a:p>
            <a:r>
              <a:rPr lang="en-US" dirty="0">
                <a:effectLst/>
              </a:rPr>
              <a:t>Same logic as </a:t>
            </a:r>
            <a:r>
              <a:rPr lang="en-US" dirty="0" err="1">
                <a:effectLst/>
              </a:rPr>
              <a:t>byte_ratio</a:t>
            </a:r>
            <a:r>
              <a:rPr lang="en-US" dirty="0">
                <a:effectLst/>
              </a:rPr>
              <a:t> but for </a:t>
            </a:r>
            <a:r>
              <a:rPr lang="en-US" b="1" dirty="0">
                <a:effectLst/>
              </a:rPr>
              <a:t>packets instead of bytes</a:t>
            </a:r>
            <a:endParaRPr lang="en-US" dirty="0">
              <a:effectLst/>
            </a:endParaRPr>
          </a:p>
          <a:p>
            <a:r>
              <a:rPr lang="en-US" dirty="0">
                <a:effectLst/>
              </a:rPr>
              <a:t>Attack traffic sends many packets to the target but gets few or no responses back</a:t>
            </a:r>
          </a:p>
          <a:p>
            <a:r>
              <a:rPr lang="en-US" dirty="0">
                <a:effectLst/>
              </a:rPr>
              <a:t>A very high packet ratio means one side is flooding the other — clear attack signal</a:t>
            </a:r>
          </a:p>
          <a:p>
            <a:endParaRPr lang="en-US" dirty="0">
              <a:effectLst/>
            </a:endParaRPr>
          </a:p>
          <a:p>
            <a:r>
              <a:rPr lang="en-US" b="1" dirty="0">
                <a:effectLst/>
              </a:rPr>
              <a:t>4. </a:t>
            </a:r>
            <a:r>
              <a:rPr lang="en-US" sz="1200" b="1" kern="1200" dirty="0" err="1">
                <a:solidFill>
                  <a:schemeClr val="tx1"/>
                </a:solidFill>
                <a:effectLst/>
                <a:latin typeface="+mn-lt"/>
                <a:ea typeface="+mn-ea"/>
                <a:cs typeface="+mn-cs"/>
              </a:rPr>
              <a:t>duration_per_byte</a:t>
            </a:r>
            <a:r>
              <a:rPr lang="en-US" b="1" dirty="0">
                <a:effectLst/>
              </a:rPr>
              <a:t> = dur / (</a:t>
            </a:r>
            <a:r>
              <a:rPr lang="en-US" b="1" dirty="0" err="1">
                <a:effectLst/>
              </a:rPr>
              <a:t>sbytes</a:t>
            </a:r>
            <a:r>
              <a:rPr lang="en-US" b="1" dirty="0">
                <a:effectLst/>
              </a:rPr>
              <a:t> + 1)</a:t>
            </a:r>
            <a:endParaRPr lang="en-US" dirty="0">
              <a:effectLst/>
            </a:endParaRPr>
          </a:p>
          <a:p>
            <a:r>
              <a:rPr lang="en-US" dirty="0">
                <a:effectLst/>
              </a:rPr>
              <a:t>Measures </a:t>
            </a:r>
            <a:r>
              <a:rPr lang="en-US" b="1" dirty="0">
                <a:effectLst/>
              </a:rPr>
              <a:t>traffic efficiency</a:t>
            </a:r>
            <a:r>
              <a:rPr lang="en-US" dirty="0">
                <a:effectLst/>
              </a:rPr>
              <a:t> — how long a connection takes relative to how much data was sent</a:t>
            </a:r>
          </a:p>
          <a:p>
            <a:r>
              <a:rPr lang="en-US" dirty="0">
                <a:effectLst/>
              </a:rPr>
              <a:t>Normal connections transfer data efficiently in a reasonable time</a:t>
            </a:r>
          </a:p>
          <a:p>
            <a:r>
              <a:rPr lang="en-US" dirty="0">
                <a:effectLst/>
              </a:rPr>
              <a:t>Slow attacks or stealthy attacks have very long duration but transfer very little data — giving a very high value</a:t>
            </a:r>
          </a:p>
          <a:p>
            <a:r>
              <a:rPr lang="en-US" dirty="0">
                <a:effectLst/>
              </a:rPr>
              <a:t>Flash attacks transfer huge data in very short time — giving a very low value</a:t>
            </a:r>
          </a:p>
          <a:p>
            <a:endParaRPr lang="en-US" dirty="0">
              <a:effectLst/>
            </a:endParaRPr>
          </a:p>
          <a:p>
            <a:r>
              <a:rPr lang="en-US" b="1" dirty="0">
                <a:effectLst/>
              </a:rPr>
              <a:t>5. </a:t>
            </a:r>
            <a:r>
              <a:rPr lang="en-US" sz="1200" b="1" kern="1200" dirty="0" err="1">
                <a:solidFill>
                  <a:schemeClr val="tx1"/>
                </a:solidFill>
                <a:effectLst/>
                <a:latin typeface="+mn-lt"/>
                <a:ea typeface="+mn-ea"/>
                <a:cs typeface="+mn-cs"/>
              </a:rPr>
              <a:t>bytes_per_packet</a:t>
            </a:r>
            <a:r>
              <a:rPr lang="en-US" b="1" dirty="0">
                <a:effectLst/>
              </a:rPr>
              <a:t> = </a:t>
            </a:r>
            <a:r>
              <a:rPr lang="en-US" b="1" dirty="0" err="1">
                <a:effectLst/>
              </a:rPr>
              <a:t>network_bytes</a:t>
            </a:r>
            <a:r>
              <a:rPr lang="en-US" b="1" dirty="0">
                <a:effectLst/>
              </a:rPr>
              <a:t> / </a:t>
            </a:r>
            <a:r>
              <a:rPr lang="en-US" b="1" dirty="0" err="1">
                <a:effectLst/>
              </a:rPr>
              <a:t>total_packets</a:t>
            </a:r>
            <a:endParaRPr lang="en-US" dirty="0">
              <a:effectLst/>
            </a:endParaRPr>
          </a:p>
          <a:p>
            <a:r>
              <a:rPr lang="en-US" dirty="0">
                <a:effectLst/>
              </a:rPr>
              <a:t>how much data is packed into each packet</a:t>
            </a:r>
          </a:p>
          <a:p>
            <a:r>
              <a:rPr lang="en-US" dirty="0">
                <a:effectLst/>
              </a:rPr>
              <a:t>Normal HTTP or file transfer traffic has large, full packets</a:t>
            </a:r>
          </a:p>
          <a:p>
            <a:r>
              <a:rPr lang="en-US" dirty="0">
                <a:effectLst/>
              </a:rPr>
              <a:t>Some attacks send many tiny empty packets — very low bytes per packet</a:t>
            </a:r>
          </a:p>
          <a:p>
            <a:r>
              <a:rPr lang="en-US" dirty="0">
                <a:effectLst/>
              </a:rPr>
              <a:t>This helps distinguish flooding attacks from normal traffic</a:t>
            </a:r>
          </a:p>
          <a:p>
            <a:endParaRPr lang="en-US" dirty="0">
              <a:effectLst/>
            </a:endParaRPr>
          </a:p>
          <a:p>
            <a:r>
              <a:rPr lang="en-US" b="1" dirty="0">
                <a:effectLst/>
              </a:rPr>
              <a:t>6. </a:t>
            </a:r>
            <a:r>
              <a:rPr lang="en-US" sz="1200" b="1" kern="1200" dirty="0" err="1">
                <a:solidFill>
                  <a:schemeClr val="tx1"/>
                </a:solidFill>
                <a:effectLst/>
                <a:latin typeface="+mn-lt"/>
                <a:ea typeface="+mn-ea"/>
                <a:cs typeface="+mn-cs"/>
              </a:rPr>
              <a:t>load_ratio</a:t>
            </a:r>
            <a:r>
              <a:rPr lang="en-US" b="1" dirty="0">
                <a:effectLst/>
              </a:rPr>
              <a:t> = </a:t>
            </a:r>
            <a:r>
              <a:rPr lang="en-US" b="1" dirty="0" err="1">
                <a:effectLst/>
              </a:rPr>
              <a:t>sload</a:t>
            </a:r>
            <a:r>
              <a:rPr lang="en-US" b="1" dirty="0">
                <a:effectLst/>
              </a:rPr>
              <a:t> / (</a:t>
            </a:r>
            <a:r>
              <a:rPr lang="en-US" b="1" dirty="0" err="1">
                <a:effectLst/>
              </a:rPr>
              <a:t>dload</a:t>
            </a:r>
            <a:r>
              <a:rPr lang="en-US" b="1" dirty="0">
                <a:effectLst/>
              </a:rPr>
              <a:t> + 1)</a:t>
            </a:r>
            <a:endParaRPr lang="en-US" dirty="0">
              <a:effectLst/>
            </a:endParaRPr>
          </a:p>
          <a:p>
            <a:r>
              <a:rPr lang="en-US" dirty="0">
                <a:effectLst/>
              </a:rPr>
              <a:t>Measures the </a:t>
            </a:r>
            <a:r>
              <a:rPr lang="en-US" b="1" dirty="0">
                <a:effectLst/>
              </a:rPr>
              <a:t>imbalance between source and destination network load</a:t>
            </a:r>
            <a:endParaRPr lang="en-US" dirty="0">
              <a:effectLst/>
            </a:endParaRPr>
          </a:p>
          <a:p>
            <a:r>
              <a:rPr lang="en-US" dirty="0">
                <a:effectLst/>
              </a:rPr>
              <a:t>In normal bidirectional communication, both sides have comparable load</a:t>
            </a:r>
          </a:p>
          <a:p>
            <a:r>
              <a:rPr lang="en-US" dirty="0">
                <a:effectLst/>
              </a:rPr>
              <a:t>In one-sided attacks like DDoS, the source load is extremely high while destination load is comparatively low — this ratio spikes, flagging the attack</a:t>
            </a:r>
          </a:p>
          <a:p>
            <a:endParaRPr lang="en-US" dirty="0">
              <a:effectLst/>
            </a:endParaRPr>
          </a:p>
          <a:p>
            <a:r>
              <a:rPr lang="en-US" sz="1200" b="0" kern="1200" dirty="0">
                <a:solidFill>
                  <a:schemeClr val="tx1"/>
                </a:solidFill>
                <a:effectLst/>
                <a:latin typeface="+mn-lt"/>
                <a:ea typeface="+mn-ea"/>
                <a:cs typeface="+mn-cs"/>
              </a:rPr>
              <a:t> we dropped 7 highly correlated features like `</a:t>
            </a:r>
            <a:r>
              <a:rPr lang="en-US" sz="1200" b="0" kern="1200" dirty="0" err="1">
                <a:solidFill>
                  <a:schemeClr val="tx1"/>
                </a:solidFill>
                <a:effectLst/>
                <a:latin typeface="+mn-lt"/>
                <a:ea typeface="+mn-ea"/>
                <a:cs typeface="+mn-cs"/>
              </a:rPr>
              <a:t>sloss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dpkts</a:t>
            </a:r>
            <a:r>
              <a:rPr lang="en-US" sz="1200" b="0" kern="1200" dirty="0">
                <a:solidFill>
                  <a:schemeClr val="tx1"/>
                </a:solidFill>
                <a:effectLst/>
                <a:latin typeface="+mn-lt"/>
                <a:ea typeface="+mn-ea"/>
                <a:cs typeface="+mn-cs"/>
              </a:rPr>
              <a:t>`, and `</a:t>
            </a:r>
            <a:r>
              <a:rPr lang="en-US" sz="1200" b="0" kern="1200" dirty="0" err="1">
                <a:solidFill>
                  <a:schemeClr val="tx1"/>
                </a:solidFill>
                <a:effectLst/>
                <a:latin typeface="+mn-lt"/>
                <a:ea typeface="+mn-ea"/>
                <a:cs typeface="+mn-cs"/>
              </a:rPr>
              <a:t>ltime</a:t>
            </a:r>
            <a:r>
              <a:rPr lang="en-US" sz="1200" b="0" kern="1200" dirty="0">
                <a:solidFill>
                  <a:schemeClr val="tx1"/>
                </a:solidFill>
                <a:effectLst/>
                <a:latin typeface="+mn-lt"/>
                <a:ea typeface="+mn-ea"/>
                <a:cs typeface="+mn-cs"/>
              </a:rPr>
              <a:t>`. These had a correlation above 0.90 with other features, meaning they were giving duplicate information to the model. Keeping them would just add noise.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One-Hot Encoding was applied on 3 categorical columns — `proto`, `service`, and `state` — to convert them into numeric form that models can understand.</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we separated the data into X which is the feature matrix and y which is the binary label — 0 for normal and 1 for attack."</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effectLst/>
            </a:endParaRPr>
          </a:p>
          <a:p>
            <a:endParaRPr lang="en-IN" dirty="0"/>
          </a:p>
        </p:txBody>
      </p:sp>
      <p:sp>
        <p:nvSpPr>
          <p:cNvPr id="4" name="Slide Number Placeholder 3"/>
          <p:cNvSpPr>
            <a:spLocks noGrp="1"/>
          </p:cNvSpPr>
          <p:nvPr>
            <p:ph type="sldNum" sz="quarter" idx="5"/>
          </p:nvPr>
        </p:nvSpPr>
        <p:spPr/>
        <p:txBody>
          <a:bodyPr/>
          <a:lstStyle/>
          <a:p>
            <a:fld id="{6B169C92-63C7-4FE8-863A-B8535A9EC330}" type="slidenum">
              <a:rPr lang="en-IN" smtClean="0"/>
              <a:t>11</a:t>
            </a:fld>
            <a:endParaRPr lang="en-IN"/>
          </a:p>
        </p:txBody>
      </p:sp>
    </p:spTree>
    <p:extLst>
      <p:ext uri="{BB962C8B-B14F-4D97-AF65-F5344CB8AC3E}">
        <p14:creationId xmlns:p14="http://schemas.microsoft.com/office/powerpoint/2010/main" val="567076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Now, one of our key improvements over the base paper is the evaluation strategy. The base paper used a simple 70/30 train-test split, which means the model is only evaluated once on one fixed portion of data. That can give biased results depending on how the data is split.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We replaced that with </a:t>
            </a:r>
            <a:r>
              <a:rPr lang="en-US" sz="1200" b="1" kern="1200" dirty="0">
                <a:solidFill>
                  <a:schemeClr val="tx1"/>
                </a:solidFill>
                <a:effectLst/>
                <a:latin typeface="+mn-lt"/>
                <a:ea typeface="+mn-ea"/>
                <a:cs typeface="+mn-cs"/>
              </a:rPr>
              <a:t>**5-Fold Stratified Cross-Validation**</a:t>
            </a:r>
            <a:r>
              <a:rPr lang="en-US" sz="1200" b="0" kern="1200" dirty="0">
                <a:solidFill>
                  <a:schemeClr val="tx1"/>
                </a:solidFill>
                <a:effectLst/>
                <a:latin typeface="+mn-lt"/>
                <a:ea typeface="+mn-ea"/>
                <a:cs typeface="+mn-cs"/>
              </a:rPr>
              <a:t>. Here's how it works — the entire dataset is divided into 5 equal parts called folds. In each iteration, 4 folds are used for training and 1 fold is used for testing. This is repeated 5 times so every single sample gets a chance to be in the test set. The final result is the average of all 5 evaluations.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the important part — inside each fold, we follow this exact pipeline: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First, `</a:t>
            </a:r>
            <a:r>
              <a:rPr lang="en-US" sz="1200" b="0" kern="1200" dirty="0" err="1">
                <a:solidFill>
                  <a:schemeClr val="tx1"/>
                </a:solidFill>
                <a:effectLst/>
                <a:latin typeface="+mn-lt"/>
                <a:ea typeface="+mn-ea"/>
                <a:cs typeface="+mn-cs"/>
              </a:rPr>
              <a:t>StandardScaler</a:t>
            </a:r>
            <a:r>
              <a:rPr lang="en-US" sz="1200" b="0" kern="1200" dirty="0">
                <a:solidFill>
                  <a:schemeClr val="tx1"/>
                </a:solidFill>
                <a:effectLst/>
                <a:latin typeface="+mn-lt"/>
                <a:ea typeface="+mn-ea"/>
                <a:cs typeface="+mn-cs"/>
              </a:rPr>
              <a:t>` is fit only on the training fold and then applied to both train and test. This is critical because if we scale the entire dataset first and then split, the model will have already seen the test data's statistics — that's called </a:t>
            </a:r>
            <a:r>
              <a:rPr lang="en-US" sz="1200" b="1" kern="1200" dirty="0">
                <a:solidFill>
                  <a:schemeClr val="tx1"/>
                </a:solidFill>
                <a:effectLst/>
                <a:latin typeface="+mn-lt"/>
                <a:ea typeface="+mn-ea"/>
                <a:cs typeface="+mn-cs"/>
              </a:rPr>
              <a:t>**data leakage**</a:t>
            </a:r>
            <a:r>
              <a:rPr lang="en-US" sz="1200" b="0" kern="1200" dirty="0">
                <a:solidFill>
                  <a:schemeClr val="tx1"/>
                </a:solidFill>
                <a:effectLst/>
                <a:latin typeface="+mn-lt"/>
                <a:ea typeface="+mn-ea"/>
                <a:cs typeface="+mn-cs"/>
              </a:rPr>
              <a: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Second, </a:t>
            </a:r>
            <a:r>
              <a:rPr lang="en-US" sz="1200" b="1" kern="1200" dirty="0">
                <a:solidFill>
                  <a:schemeClr val="tx1"/>
                </a:solidFill>
                <a:effectLst/>
                <a:latin typeface="+mn-lt"/>
                <a:ea typeface="+mn-ea"/>
                <a:cs typeface="+mn-cs"/>
              </a:rPr>
              <a:t>**SMOTE**</a:t>
            </a:r>
            <a:r>
              <a:rPr lang="en-US" sz="1200" b="0" kern="1200" dirty="0">
                <a:solidFill>
                  <a:schemeClr val="tx1"/>
                </a:solidFill>
                <a:effectLst/>
                <a:latin typeface="+mn-lt"/>
                <a:ea typeface="+mn-ea"/>
                <a:cs typeface="+mn-cs"/>
              </a:rPr>
              <a:t> — Synthetic Minority Oversampling Technique — is applied only on the training fold to handle class imbalance. The UNSW-NB15 dataset has more normal traffic records than attack records. If we don't handle this, the model will be biased towards predicting normal. SMOTE creates synthetic attack samples to balance the training data. And again, SMOTE is applied only on the training fold — never on the test fold — because we want to evaluate on real data only.</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6B169C92-63C7-4FE8-863A-B8535A9EC330}" type="slidenum">
              <a:rPr lang="en-IN" smtClean="0"/>
              <a:t>12</a:t>
            </a:fld>
            <a:endParaRPr lang="en-IN"/>
          </a:p>
        </p:txBody>
      </p:sp>
    </p:spTree>
    <p:extLst>
      <p:ext uri="{BB962C8B-B14F-4D97-AF65-F5344CB8AC3E}">
        <p14:creationId xmlns:p14="http://schemas.microsoft.com/office/powerpoint/2010/main" val="4926401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does exactly that — it tries to find one straight boundary that separates the two classes. If a data point falls on one side it's normal, other side it's attack.</a:t>
            </a:r>
          </a:p>
          <a:p>
            <a:endParaRPr lang="en-US" dirty="0"/>
          </a:p>
          <a:p>
            <a:r>
              <a:rPr lang="en-US" dirty="0"/>
              <a:t>Decision tree handles non-linear patterns much better than Logistic Regression because it can ask multiple questions about multiple features.</a:t>
            </a:r>
          </a:p>
          <a:p>
            <a:endParaRPr lang="en-US" dirty="0"/>
          </a:p>
          <a:p>
            <a:r>
              <a:rPr lang="en-US" dirty="0"/>
              <a:t>Random Forest builds 300 different decision trees, each trained on a random portion of data and random set of features. The final prediction is whichever class gets the most votes from all 300 trees.</a:t>
            </a:r>
          </a:p>
          <a:p>
            <a:endParaRPr lang="en-US" dirty="0"/>
          </a:p>
          <a:p>
            <a:r>
              <a:rPr lang="en-US" dirty="0" err="1"/>
              <a:t>Svm</a:t>
            </a:r>
            <a:r>
              <a:rPr lang="en-US" dirty="0"/>
              <a:t> it draws a line with the maximum gap on both sides so that both classes are as far away from the boundary as possible. The LINEAR part means this road is still straight.</a:t>
            </a:r>
          </a:p>
          <a:p>
            <a:endParaRPr lang="en-US" dirty="0"/>
          </a:p>
          <a:p>
            <a:r>
              <a:rPr lang="en-US" dirty="0" err="1"/>
              <a:t>XGBoost</a:t>
            </a:r>
            <a:r>
              <a:rPr lang="en-US" dirty="0"/>
              <a:t> is like a student who keeps learning from their mistakes. It builds tree number 1, checks where it went wrong, builds tree number 2 specifically to fix those mistakes, checks again, builds tree number 3 to fix remaining mistakes — and repeats this 400 times. Each new tree focuses on the errors the previous trees couldn't solve.</a:t>
            </a:r>
          </a:p>
          <a:p>
            <a:endParaRPr lang="en-US" dirty="0"/>
          </a:p>
          <a:p>
            <a:r>
              <a:rPr lang="en-US" dirty="0" err="1"/>
              <a:t>LightGBM</a:t>
            </a:r>
            <a:r>
              <a:rPr lang="en-US" dirty="0"/>
              <a:t> is a fast and efficient gradient boosting algorithm that builds trees leaf-wise — it always grows the most important branch first instead of growing the entire tree level by level.</a:t>
            </a:r>
          </a:p>
          <a:p>
            <a:endParaRPr lang="en-US" dirty="0"/>
          </a:p>
          <a:p>
            <a:endParaRPr lang="en-US" dirty="0"/>
          </a:p>
          <a:p>
            <a:r>
              <a:rPr lang="en-US" sz="1200" b="1" kern="1200" dirty="0">
                <a:solidFill>
                  <a:schemeClr val="tx1"/>
                </a:solidFill>
                <a:effectLst/>
                <a:latin typeface="+mn-lt"/>
                <a:ea typeface="+mn-ea"/>
                <a:cs typeface="+mn-cs"/>
              </a:rPr>
              <a:t>*Accuracy**</a:t>
            </a:r>
            <a:r>
              <a:rPr lang="en-US" sz="1200" b="0" kern="1200" dirty="0">
                <a:solidFill>
                  <a:schemeClr val="tx1"/>
                </a:solidFill>
                <a:effectLst/>
                <a:latin typeface="+mn-lt"/>
                <a:ea typeface="+mn-ea"/>
                <a:cs typeface="+mn-cs"/>
              </a:rPr>
              <a:t> — overall percentage of correct predictions</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**Precision**</a:t>
            </a:r>
            <a:r>
              <a:rPr lang="en-US" sz="1200" b="0" kern="1200" dirty="0">
                <a:solidFill>
                  <a:schemeClr val="tx1"/>
                </a:solidFill>
                <a:effectLst/>
                <a:latin typeface="+mn-lt"/>
                <a:ea typeface="+mn-ea"/>
                <a:cs typeface="+mn-cs"/>
              </a:rPr>
              <a:t> — out of all predicted attacks, how many were actually attacks</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**Recall**</a:t>
            </a:r>
            <a:r>
              <a:rPr lang="en-US" sz="1200" b="0" kern="1200" dirty="0">
                <a:solidFill>
                  <a:schemeClr val="tx1"/>
                </a:solidFill>
                <a:effectLst/>
                <a:latin typeface="+mn-lt"/>
                <a:ea typeface="+mn-ea"/>
                <a:cs typeface="+mn-cs"/>
              </a:rPr>
              <a:t> — out of all actual attacks, how many did we correctly detect</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**F1-Score**</a:t>
            </a:r>
            <a:r>
              <a:rPr lang="en-US" sz="1200" b="0" kern="1200" dirty="0">
                <a:solidFill>
                  <a:schemeClr val="tx1"/>
                </a:solidFill>
                <a:effectLst/>
                <a:latin typeface="+mn-lt"/>
                <a:ea typeface="+mn-ea"/>
                <a:cs typeface="+mn-cs"/>
              </a:rPr>
              <a:t> — the harmonic mean of precision and recall, very useful when classes are imbalanced</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**FAR — False Alarm Rate**</a:t>
            </a:r>
            <a:r>
              <a:rPr lang="en-US" sz="1200" b="0" kern="1200" dirty="0">
                <a:solidFill>
                  <a:schemeClr val="tx1"/>
                </a:solidFill>
                <a:effectLst/>
                <a:latin typeface="+mn-lt"/>
                <a:ea typeface="+mn-ea"/>
                <a:cs typeface="+mn-cs"/>
              </a:rPr>
              <a:t> — how often normal traffic is wrongly flagged as an attack. This is extremely important in real IDS systems because too many false alarms cause alert fatigue</a:t>
            </a:r>
          </a:p>
          <a:p>
            <a:endParaRPr lang="en-US" dirty="0"/>
          </a:p>
          <a:p>
            <a:endParaRPr lang="en-IN" dirty="0"/>
          </a:p>
        </p:txBody>
      </p:sp>
      <p:sp>
        <p:nvSpPr>
          <p:cNvPr id="4" name="Slide Number Placeholder 3"/>
          <p:cNvSpPr>
            <a:spLocks noGrp="1"/>
          </p:cNvSpPr>
          <p:nvPr>
            <p:ph type="sldNum" sz="quarter" idx="5"/>
          </p:nvPr>
        </p:nvSpPr>
        <p:spPr/>
        <p:txBody>
          <a:bodyPr/>
          <a:lstStyle/>
          <a:p>
            <a:fld id="{6B169C92-63C7-4FE8-863A-B8535A9EC330}" type="slidenum">
              <a:rPr lang="en-IN" smtClean="0"/>
              <a:t>13</a:t>
            </a:fld>
            <a:endParaRPr lang="en-IN"/>
          </a:p>
        </p:txBody>
      </p:sp>
    </p:spTree>
    <p:extLst>
      <p:ext uri="{BB962C8B-B14F-4D97-AF65-F5344CB8AC3E}">
        <p14:creationId xmlns:p14="http://schemas.microsoft.com/office/powerpoint/2010/main" val="20572974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Looking at the table, we can clearly see a pattern. The top 3 performers are </a:t>
            </a:r>
            <a:r>
              <a:rPr lang="en-US" sz="1200" b="0" kern="1200" dirty="0" err="1">
                <a:solidFill>
                  <a:schemeClr val="tx1"/>
                </a:solidFill>
                <a:effectLst/>
                <a:latin typeface="+mn-lt"/>
                <a:ea typeface="+mn-ea"/>
                <a:cs typeface="+mn-cs"/>
              </a:rPr>
              <a:t>XGBoost</a:t>
            </a:r>
            <a:r>
              <a:rPr lang="en-US" sz="1200" b="0" kern="1200" dirty="0">
                <a:solidFill>
                  <a:schemeClr val="tx1"/>
                </a:solidFill>
                <a:effectLst/>
                <a:latin typeface="+mn-lt"/>
                <a:ea typeface="+mn-ea"/>
                <a:cs typeface="+mn-cs"/>
              </a:rPr>
              <a:t> at 94.42% accuracy, </a:t>
            </a:r>
            <a:r>
              <a:rPr lang="en-US" sz="1200" b="0" kern="1200" dirty="0" err="1">
                <a:solidFill>
                  <a:schemeClr val="tx1"/>
                </a:solidFill>
                <a:effectLst/>
                <a:latin typeface="+mn-lt"/>
                <a:ea typeface="+mn-ea"/>
                <a:cs typeface="+mn-cs"/>
              </a:rPr>
              <a:t>LightGBM</a:t>
            </a:r>
            <a:r>
              <a:rPr lang="en-US" sz="1200" b="0" kern="1200" dirty="0">
                <a:solidFill>
                  <a:schemeClr val="tx1"/>
                </a:solidFill>
                <a:effectLst/>
                <a:latin typeface="+mn-lt"/>
                <a:ea typeface="+mn-ea"/>
                <a:cs typeface="+mn-cs"/>
              </a:rPr>
              <a:t> at 94.15%, and Random Forest at 94.06%. These three are very close to each other.</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bottom two are Logistic Regression at 87.77% and Linear SVM at 87.55%. Both are linear models and they struggled with this dataset.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For F1-Score, </a:t>
            </a:r>
            <a:r>
              <a:rPr lang="en-US" sz="1200" b="0" kern="1200" dirty="0" err="1">
                <a:solidFill>
                  <a:schemeClr val="tx1"/>
                </a:solidFill>
                <a:effectLst/>
                <a:latin typeface="+mn-lt"/>
                <a:ea typeface="+mn-ea"/>
                <a:cs typeface="+mn-cs"/>
              </a:rPr>
              <a:t>XGBoost</a:t>
            </a:r>
            <a:r>
              <a:rPr lang="en-US" sz="1200" b="0" kern="1200" dirty="0">
                <a:solidFill>
                  <a:schemeClr val="tx1"/>
                </a:solidFill>
                <a:effectLst/>
                <a:latin typeface="+mn-lt"/>
                <a:ea typeface="+mn-ea"/>
                <a:cs typeface="+mn-cs"/>
              </a:rPr>
              <a:t> leads at 95.61%, followed by </a:t>
            </a:r>
            <a:r>
              <a:rPr lang="en-US" sz="1200" b="0" kern="1200" dirty="0" err="1">
                <a:solidFill>
                  <a:schemeClr val="tx1"/>
                </a:solidFill>
                <a:effectLst/>
                <a:latin typeface="+mn-lt"/>
                <a:ea typeface="+mn-ea"/>
                <a:cs typeface="+mn-cs"/>
              </a:rPr>
              <a:t>LightGBM</a:t>
            </a:r>
            <a:r>
              <a:rPr lang="en-US" sz="1200" b="0" kern="1200" dirty="0">
                <a:solidFill>
                  <a:schemeClr val="tx1"/>
                </a:solidFill>
                <a:effectLst/>
                <a:latin typeface="+mn-lt"/>
                <a:ea typeface="+mn-ea"/>
                <a:cs typeface="+mn-cs"/>
              </a:rPr>
              <a:t> at 95.37% and Random Forest at 95.27%.</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For FAR — which we want to minimize — Random Forest is actually the best at just 5.01%. </a:t>
            </a:r>
            <a:r>
              <a:rPr lang="en-US" sz="1200" b="0" kern="1200" dirty="0" err="1">
                <a:solidFill>
                  <a:schemeClr val="tx1"/>
                </a:solidFill>
                <a:effectLst/>
                <a:latin typeface="+mn-lt"/>
                <a:ea typeface="+mn-ea"/>
                <a:cs typeface="+mn-cs"/>
              </a:rPr>
              <a:t>XGBoost</a:t>
            </a:r>
            <a:r>
              <a:rPr lang="en-US" sz="1200" b="0" kern="1200" dirty="0">
                <a:solidFill>
                  <a:schemeClr val="tx1"/>
                </a:solidFill>
                <a:effectLst/>
                <a:latin typeface="+mn-lt"/>
                <a:ea typeface="+mn-ea"/>
                <a:cs typeface="+mn-cs"/>
              </a:rPr>
              <a:t> has a slightly higher FAR of 6.73% because it focuses more on maximizing recall, which means it flags more traffic as attacks, including some normal traffic.</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6B169C92-63C7-4FE8-863A-B8535A9EC330}" type="slidenum">
              <a:rPr lang="en-IN" smtClean="0"/>
              <a:t>14</a:t>
            </a:fld>
            <a:endParaRPr lang="en-IN"/>
          </a:p>
        </p:txBody>
      </p:sp>
    </p:spTree>
    <p:extLst>
      <p:ext uri="{BB962C8B-B14F-4D97-AF65-F5344CB8AC3E}">
        <p14:creationId xmlns:p14="http://schemas.microsoft.com/office/powerpoint/2010/main" val="957461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So summarizing the analysis from these results: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**First**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XGBoost</a:t>
            </a:r>
            <a:r>
              <a:rPr lang="en-US" sz="1200" b="0" kern="1200" dirty="0">
                <a:solidFill>
                  <a:schemeClr val="tx1"/>
                </a:solidFill>
                <a:effectLst/>
                <a:latin typeface="+mn-lt"/>
                <a:ea typeface="+mn-ea"/>
                <a:cs typeface="+mn-cs"/>
              </a:rPr>
              <a:t> achieved the highest accuracy of 94.42% and F1-Score of 95.61%, making it the overall best model in this study. It also has the highest AUC of 0.9907.</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**Second**</a:t>
            </a:r>
            <a:r>
              <a:rPr lang="en-US" sz="1200" b="0" kern="1200" dirty="0">
                <a:solidFill>
                  <a:schemeClr val="tx1"/>
                </a:solidFill>
                <a:effectLst/>
                <a:latin typeface="+mn-lt"/>
                <a:ea typeface="+mn-ea"/>
                <a:cs typeface="+mn-cs"/>
              </a:rPr>
              <a:t>, both gradient boosting models — </a:t>
            </a:r>
            <a:r>
              <a:rPr lang="en-US" sz="1200" b="0" kern="1200" dirty="0" err="1">
                <a:solidFill>
                  <a:schemeClr val="tx1"/>
                </a:solidFill>
                <a:effectLst/>
                <a:latin typeface="+mn-lt"/>
                <a:ea typeface="+mn-ea"/>
                <a:cs typeface="+mn-cs"/>
              </a:rPr>
              <a:t>XGBoost</a:t>
            </a:r>
            <a:r>
              <a:rPr lang="en-US" sz="1200" b="0" kern="1200" dirty="0">
                <a:solidFill>
                  <a:schemeClr val="tx1"/>
                </a:solidFill>
                <a:effectLst/>
                <a:latin typeface="+mn-lt"/>
                <a:ea typeface="+mn-ea"/>
                <a:cs typeface="+mn-cs"/>
              </a:rPr>
              <a:t> and </a:t>
            </a:r>
            <a:r>
              <a:rPr lang="en-US" sz="1200" b="0" kern="1200" dirty="0" err="1">
                <a:solidFill>
                  <a:schemeClr val="tx1"/>
                </a:solidFill>
                <a:effectLst/>
                <a:latin typeface="+mn-lt"/>
                <a:ea typeface="+mn-ea"/>
                <a:cs typeface="+mn-cs"/>
              </a:rPr>
              <a:t>LightGBM</a:t>
            </a:r>
            <a:r>
              <a:rPr lang="en-US" sz="1200" b="0" kern="1200" dirty="0">
                <a:solidFill>
                  <a:schemeClr val="tx1"/>
                </a:solidFill>
                <a:effectLst/>
                <a:latin typeface="+mn-lt"/>
                <a:ea typeface="+mn-ea"/>
                <a:cs typeface="+mn-cs"/>
              </a:rPr>
              <a:t> — consistently outperformed all the base paper models across every single metric. This confirms that gradient boosting is the most suitable approach for intrusion detection on tabular network data.</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**Third**</a:t>
            </a:r>
            <a:r>
              <a:rPr lang="en-US" sz="1200" b="0" kern="1200" dirty="0">
                <a:solidFill>
                  <a:schemeClr val="tx1"/>
                </a:solidFill>
                <a:effectLst/>
                <a:latin typeface="+mn-lt"/>
                <a:ea typeface="+mn-ea"/>
                <a:cs typeface="+mn-cs"/>
              </a:rPr>
              <a:t>, Random Forest achieved the lowest False Alarm Rate of just 5.01%. In a real-world IDS deployment, this is extremely important — too many false alarms will cause security analysts to ignore alerts, which defeats the purpose of the system.</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**Fourth**</a:t>
            </a:r>
            <a:r>
              <a:rPr lang="en-US" sz="1200" b="0" kern="1200" dirty="0">
                <a:solidFill>
                  <a:schemeClr val="tx1"/>
                </a:solidFill>
                <a:effectLst/>
                <a:latin typeface="+mn-lt"/>
                <a:ea typeface="+mn-ea"/>
                <a:cs typeface="+mn-cs"/>
              </a:rPr>
              <a:t>, the linear models — Logistic Regression and Linear SVM — performed the weakest, both below 88% accuracy and with FAR above 14%. This is because network attack patterns are highly non-linear and cannot be captured by a simple straight-line decision boundary.</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**Fifth**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XGBoost</a:t>
            </a:r>
            <a:r>
              <a:rPr lang="en-US" sz="1200" b="0" kern="1200" dirty="0">
                <a:solidFill>
                  <a:schemeClr val="tx1"/>
                </a:solidFill>
                <a:effectLst/>
                <a:latin typeface="+mn-lt"/>
                <a:ea typeface="+mn-ea"/>
                <a:cs typeface="+mn-cs"/>
              </a:rPr>
              <a:t> also demonstrated the highest stability with F1 standard deviation of just ±0.08% across all 5 folds. This means its performance was almost identical in every fold, which proves the results are reliable and not due to luck."</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6B169C92-63C7-4FE8-863A-B8535A9EC330}" type="slidenum">
              <a:rPr lang="en-IN" smtClean="0"/>
              <a:t>15</a:t>
            </a:fld>
            <a:endParaRPr lang="en-IN"/>
          </a:p>
        </p:txBody>
      </p:sp>
    </p:spTree>
    <p:extLst>
      <p:ext uri="{BB962C8B-B14F-4D97-AF65-F5344CB8AC3E}">
        <p14:creationId xmlns:p14="http://schemas.microsoft.com/office/powerpoint/2010/main" val="686628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Our first contribution was applying 5-Fold Cross-Validation with SMOTE inside each fold and engineering 6 new domain-based features. This gave us a much more robust and unbiased evaluation pipeline compared to the base paper's simple 70/30 split.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Our second and most important finding is that </a:t>
            </a:r>
            <a:r>
              <a:rPr lang="en-US" sz="1200" b="0" kern="1200" dirty="0" err="1">
                <a:solidFill>
                  <a:schemeClr val="tx1"/>
                </a:solidFill>
                <a:effectLst/>
                <a:latin typeface="+mn-lt"/>
                <a:ea typeface="+mn-ea"/>
                <a:cs typeface="+mn-cs"/>
              </a:rPr>
              <a:t>XGBoost</a:t>
            </a:r>
            <a:r>
              <a:rPr lang="en-US" sz="1200" b="0" kern="1200" dirty="0">
                <a:solidFill>
                  <a:schemeClr val="tx1"/>
                </a:solidFill>
                <a:effectLst/>
                <a:latin typeface="+mn-lt"/>
                <a:ea typeface="+mn-ea"/>
                <a:cs typeface="+mn-cs"/>
              </a:rPr>
              <a:t> delivered the best overall performance with 94.42% accuracy, 95.61% F1-Score, and 0.9907 AUC. </a:t>
            </a:r>
            <a:r>
              <a:rPr lang="en-US" sz="1200" b="0" kern="1200" dirty="0" err="1">
                <a:solidFill>
                  <a:schemeClr val="tx1"/>
                </a:solidFill>
                <a:effectLst/>
                <a:latin typeface="+mn-lt"/>
                <a:ea typeface="+mn-ea"/>
                <a:cs typeface="+mn-cs"/>
              </a:rPr>
              <a:t>LightGBM</a:t>
            </a:r>
            <a:r>
              <a:rPr lang="en-US" sz="1200" b="0" kern="1200" dirty="0">
                <a:solidFill>
                  <a:schemeClr val="tx1"/>
                </a:solidFill>
                <a:effectLst/>
                <a:latin typeface="+mn-lt"/>
                <a:ea typeface="+mn-ea"/>
                <a:cs typeface="+mn-cs"/>
              </a:rPr>
              <a:t> was a close second, and together these two new models clearly outperformed everything in the base paper.</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Third, Random Forest proved to be the best model specifically for minimizing false alarms at 5.01% FAR, which makes it highly suitable for real-world deployment. Linear models consistently underperformed because the attack patterns in network traffic are complex and non-linear.</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Finally, this research demonstrates that the combination of proper evaluation methodology, handling class imbalance, domain-driven feature engineering, and advanced ensemble models like </a:t>
            </a:r>
            <a:r>
              <a:rPr lang="en-US" sz="1200" b="0" kern="1200" dirty="0" err="1">
                <a:solidFill>
                  <a:schemeClr val="tx1"/>
                </a:solidFill>
                <a:effectLst/>
                <a:latin typeface="+mn-lt"/>
                <a:ea typeface="+mn-ea"/>
                <a:cs typeface="+mn-cs"/>
              </a:rPr>
              <a:t>XGBoost</a:t>
            </a:r>
            <a:r>
              <a:rPr lang="en-US" sz="1200" b="0" kern="1200" dirty="0">
                <a:solidFill>
                  <a:schemeClr val="tx1"/>
                </a:solidFill>
                <a:effectLst/>
                <a:latin typeface="+mn-lt"/>
                <a:ea typeface="+mn-ea"/>
                <a:cs typeface="+mn-cs"/>
              </a:rPr>
              <a:t> and </a:t>
            </a:r>
            <a:r>
              <a:rPr lang="en-US" sz="1200" b="0" kern="1200" dirty="0" err="1">
                <a:solidFill>
                  <a:schemeClr val="tx1"/>
                </a:solidFill>
                <a:effectLst/>
                <a:latin typeface="+mn-lt"/>
                <a:ea typeface="+mn-ea"/>
                <a:cs typeface="+mn-cs"/>
              </a:rPr>
              <a:t>LightGBM</a:t>
            </a:r>
            <a:r>
              <a:rPr lang="en-US" sz="1200" b="0" kern="1200">
                <a:solidFill>
                  <a:schemeClr val="tx1"/>
                </a:solidFill>
                <a:effectLst/>
                <a:latin typeface="+mn-lt"/>
                <a:ea typeface="+mn-ea"/>
                <a:cs typeface="+mn-cs"/>
              </a:rPr>
              <a:t> can significantly improve both the detection capability and reliability of an Intrusion Detection System.</a:t>
            </a:r>
          </a:p>
          <a:p>
            <a:endParaRPr lang="en-IN" dirty="0"/>
          </a:p>
        </p:txBody>
      </p:sp>
      <p:sp>
        <p:nvSpPr>
          <p:cNvPr id="4" name="Slide Number Placeholder 3"/>
          <p:cNvSpPr>
            <a:spLocks noGrp="1"/>
          </p:cNvSpPr>
          <p:nvPr>
            <p:ph type="sldNum" sz="quarter" idx="5"/>
          </p:nvPr>
        </p:nvSpPr>
        <p:spPr/>
        <p:txBody>
          <a:bodyPr/>
          <a:lstStyle/>
          <a:p>
            <a:fld id="{6B169C92-63C7-4FE8-863A-B8535A9EC330}" type="slidenum">
              <a:rPr lang="en-IN" smtClean="0"/>
              <a:t>16</a:t>
            </a:fld>
            <a:endParaRPr lang="en-IN"/>
          </a:p>
        </p:txBody>
      </p:sp>
    </p:spTree>
    <p:extLst>
      <p:ext uri="{BB962C8B-B14F-4D97-AF65-F5344CB8AC3E}">
        <p14:creationId xmlns:p14="http://schemas.microsoft.com/office/powerpoint/2010/main" val="1053610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549CE-36F1-451C-600D-9F6CB1B518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F68A03C-C8D2-E761-78C0-440F0FFF47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D2D753C-3BD9-8590-075A-5BD633780B27}"/>
              </a:ext>
            </a:extLst>
          </p:cNvPr>
          <p:cNvSpPr>
            <a:spLocks noGrp="1"/>
          </p:cNvSpPr>
          <p:nvPr>
            <p:ph type="dt" sz="half" idx="10"/>
          </p:nvPr>
        </p:nvSpPr>
        <p:spPr/>
        <p:txBody>
          <a:bodyPr/>
          <a:lstStyle/>
          <a:p>
            <a:fld id="{35DCD64B-6FE7-4441-90F0-B597E388B9E5}" type="datetimeFigureOut">
              <a:rPr lang="en-IN" smtClean="0"/>
              <a:t>21-03-2026</a:t>
            </a:fld>
            <a:endParaRPr lang="en-IN"/>
          </a:p>
        </p:txBody>
      </p:sp>
      <p:sp>
        <p:nvSpPr>
          <p:cNvPr id="5" name="Footer Placeholder 4">
            <a:extLst>
              <a:ext uri="{FF2B5EF4-FFF2-40B4-BE49-F238E27FC236}">
                <a16:creationId xmlns:a16="http://schemas.microsoft.com/office/drawing/2014/main" id="{DF9674F7-3638-A1E0-BC34-0F95018188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863A49-7AAB-8E8C-F0AA-77FA3B1FAEEC}"/>
              </a:ext>
            </a:extLst>
          </p:cNvPr>
          <p:cNvSpPr>
            <a:spLocks noGrp="1"/>
          </p:cNvSpPr>
          <p:nvPr>
            <p:ph type="sldNum" sz="quarter" idx="12"/>
          </p:nvPr>
        </p:nvSpPr>
        <p:spPr/>
        <p:txBody>
          <a:bodyPr/>
          <a:lstStyle/>
          <a:p>
            <a:fld id="{EFF0204D-1329-4F27-9091-DFFD6FAF0182}" type="slidenum">
              <a:rPr lang="en-IN" smtClean="0"/>
              <a:t>‹#›</a:t>
            </a:fld>
            <a:endParaRPr lang="en-IN"/>
          </a:p>
        </p:txBody>
      </p:sp>
    </p:spTree>
    <p:extLst>
      <p:ext uri="{BB962C8B-B14F-4D97-AF65-F5344CB8AC3E}">
        <p14:creationId xmlns:p14="http://schemas.microsoft.com/office/powerpoint/2010/main" val="2699797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DE4EF-E893-909A-F180-0368EDE5C7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82F96F-1EAB-3A09-E86D-3CFBB40D55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D654E4-E771-D94A-9D6C-05E4E46FA7A0}"/>
              </a:ext>
            </a:extLst>
          </p:cNvPr>
          <p:cNvSpPr>
            <a:spLocks noGrp="1"/>
          </p:cNvSpPr>
          <p:nvPr>
            <p:ph type="dt" sz="half" idx="10"/>
          </p:nvPr>
        </p:nvSpPr>
        <p:spPr/>
        <p:txBody>
          <a:bodyPr/>
          <a:lstStyle/>
          <a:p>
            <a:fld id="{35DCD64B-6FE7-4441-90F0-B597E388B9E5}" type="datetimeFigureOut">
              <a:rPr lang="en-IN" smtClean="0"/>
              <a:t>21-03-2026</a:t>
            </a:fld>
            <a:endParaRPr lang="en-IN"/>
          </a:p>
        </p:txBody>
      </p:sp>
      <p:sp>
        <p:nvSpPr>
          <p:cNvPr id="5" name="Footer Placeholder 4">
            <a:extLst>
              <a:ext uri="{FF2B5EF4-FFF2-40B4-BE49-F238E27FC236}">
                <a16:creationId xmlns:a16="http://schemas.microsoft.com/office/drawing/2014/main" id="{BACEBA73-6EDA-AE07-0876-A9004021A6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4D0BE3-0044-F7A0-B906-79F5DAE11317}"/>
              </a:ext>
            </a:extLst>
          </p:cNvPr>
          <p:cNvSpPr>
            <a:spLocks noGrp="1"/>
          </p:cNvSpPr>
          <p:nvPr>
            <p:ph type="sldNum" sz="quarter" idx="12"/>
          </p:nvPr>
        </p:nvSpPr>
        <p:spPr/>
        <p:txBody>
          <a:bodyPr/>
          <a:lstStyle/>
          <a:p>
            <a:fld id="{EFF0204D-1329-4F27-9091-DFFD6FAF0182}" type="slidenum">
              <a:rPr lang="en-IN" smtClean="0"/>
              <a:t>‹#›</a:t>
            </a:fld>
            <a:endParaRPr lang="en-IN"/>
          </a:p>
        </p:txBody>
      </p:sp>
    </p:spTree>
    <p:extLst>
      <p:ext uri="{BB962C8B-B14F-4D97-AF65-F5344CB8AC3E}">
        <p14:creationId xmlns:p14="http://schemas.microsoft.com/office/powerpoint/2010/main" val="3311994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CA0F5-ECC4-8BB3-D481-6DB9A8CAEC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F4A5BC3-E4EA-0B95-ABA0-85ACEF6AD89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98861C-A56A-EC47-62ED-047388F107FE}"/>
              </a:ext>
            </a:extLst>
          </p:cNvPr>
          <p:cNvSpPr>
            <a:spLocks noGrp="1"/>
          </p:cNvSpPr>
          <p:nvPr>
            <p:ph type="dt" sz="half" idx="10"/>
          </p:nvPr>
        </p:nvSpPr>
        <p:spPr/>
        <p:txBody>
          <a:bodyPr/>
          <a:lstStyle/>
          <a:p>
            <a:fld id="{35DCD64B-6FE7-4441-90F0-B597E388B9E5}" type="datetimeFigureOut">
              <a:rPr lang="en-IN" smtClean="0"/>
              <a:t>21-03-2026</a:t>
            </a:fld>
            <a:endParaRPr lang="en-IN"/>
          </a:p>
        </p:txBody>
      </p:sp>
      <p:sp>
        <p:nvSpPr>
          <p:cNvPr id="5" name="Footer Placeholder 4">
            <a:extLst>
              <a:ext uri="{FF2B5EF4-FFF2-40B4-BE49-F238E27FC236}">
                <a16:creationId xmlns:a16="http://schemas.microsoft.com/office/drawing/2014/main" id="{BBB694B7-A49D-5E1D-2D12-123D7764A4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CE731D-301E-E818-5BDC-156E9BE04F1F}"/>
              </a:ext>
            </a:extLst>
          </p:cNvPr>
          <p:cNvSpPr>
            <a:spLocks noGrp="1"/>
          </p:cNvSpPr>
          <p:nvPr>
            <p:ph type="sldNum" sz="quarter" idx="12"/>
          </p:nvPr>
        </p:nvSpPr>
        <p:spPr/>
        <p:txBody>
          <a:bodyPr/>
          <a:lstStyle/>
          <a:p>
            <a:fld id="{EFF0204D-1329-4F27-9091-DFFD6FAF0182}" type="slidenum">
              <a:rPr lang="en-IN" smtClean="0"/>
              <a:t>‹#›</a:t>
            </a:fld>
            <a:endParaRPr lang="en-IN"/>
          </a:p>
        </p:txBody>
      </p:sp>
    </p:spTree>
    <p:extLst>
      <p:ext uri="{BB962C8B-B14F-4D97-AF65-F5344CB8AC3E}">
        <p14:creationId xmlns:p14="http://schemas.microsoft.com/office/powerpoint/2010/main" val="3140408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7F7F3-1054-F453-D16D-FF02FEF496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A9986E-0E21-873B-7644-5E302EEB83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8099EDC-6705-B2B4-699E-295291EE5E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2D86694-220D-5483-767F-4ABE0DF8A5F4}"/>
              </a:ext>
            </a:extLst>
          </p:cNvPr>
          <p:cNvSpPr>
            <a:spLocks noGrp="1"/>
          </p:cNvSpPr>
          <p:nvPr>
            <p:ph type="dt" sz="half" idx="10"/>
          </p:nvPr>
        </p:nvSpPr>
        <p:spPr/>
        <p:txBody>
          <a:bodyPr/>
          <a:lstStyle/>
          <a:p>
            <a:fld id="{35DCD64B-6FE7-4441-90F0-B597E388B9E5}" type="datetimeFigureOut">
              <a:rPr lang="en-IN" smtClean="0"/>
              <a:t>21-03-2026</a:t>
            </a:fld>
            <a:endParaRPr lang="en-IN"/>
          </a:p>
        </p:txBody>
      </p:sp>
      <p:sp>
        <p:nvSpPr>
          <p:cNvPr id="6" name="Footer Placeholder 5">
            <a:extLst>
              <a:ext uri="{FF2B5EF4-FFF2-40B4-BE49-F238E27FC236}">
                <a16:creationId xmlns:a16="http://schemas.microsoft.com/office/drawing/2014/main" id="{EFC6842A-9E10-567B-7FE5-1A01AD6469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8426E3-43D7-3DC2-C486-7BCE682A0718}"/>
              </a:ext>
            </a:extLst>
          </p:cNvPr>
          <p:cNvSpPr>
            <a:spLocks noGrp="1"/>
          </p:cNvSpPr>
          <p:nvPr>
            <p:ph type="sldNum" sz="quarter" idx="12"/>
          </p:nvPr>
        </p:nvSpPr>
        <p:spPr/>
        <p:txBody>
          <a:bodyPr/>
          <a:lstStyle/>
          <a:p>
            <a:fld id="{EFF0204D-1329-4F27-9091-DFFD6FAF0182}" type="slidenum">
              <a:rPr lang="en-IN" smtClean="0"/>
              <a:t>‹#›</a:t>
            </a:fld>
            <a:endParaRPr lang="en-IN"/>
          </a:p>
        </p:txBody>
      </p:sp>
    </p:spTree>
    <p:extLst>
      <p:ext uri="{BB962C8B-B14F-4D97-AF65-F5344CB8AC3E}">
        <p14:creationId xmlns:p14="http://schemas.microsoft.com/office/powerpoint/2010/main" val="1044546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8F47E-E5A6-55B9-E1C1-7A961BB777C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A9C3C1-E62B-F994-A5B6-7855AE3466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CAEF00-1918-9252-1E58-069D26E8CC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FF32D80-030A-0751-C940-A562123794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C5C9FE-91EF-76F2-ADE8-637AD838B6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4D80433-BDBD-CB5F-0DB1-06DA8B477744}"/>
              </a:ext>
            </a:extLst>
          </p:cNvPr>
          <p:cNvSpPr>
            <a:spLocks noGrp="1"/>
          </p:cNvSpPr>
          <p:nvPr>
            <p:ph type="dt" sz="half" idx="10"/>
          </p:nvPr>
        </p:nvSpPr>
        <p:spPr/>
        <p:txBody>
          <a:bodyPr/>
          <a:lstStyle/>
          <a:p>
            <a:fld id="{35DCD64B-6FE7-4441-90F0-B597E388B9E5}" type="datetimeFigureOut">
              <a:rPr lang="en-IN" smtClean="0"/>
              <a:t>21-03-2026</a:t>
            </a:fld>
            <a:endParaRPr lang="en-IN"/>
          </a:p>
        </p:txBody>
      </p:sp>
      <p:sp>
        <p:nvSpPr>
          <p:cNvPr id="8" name="Footer Placeholder 7">
            <a:extLst>
              <a:ext uri="{FF2B5EF4-FFF2-40B4-BE49-F238E27FC236}">
                <a16:creationId xmlns:a16="http://schemas.microsoft.com/office/drawing/2014/main" id="{543A0B94-0D20-4207-F151-0F020623F90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545C178-16E0-B988-8F97-50A69CCD9E19}"/>
              </a:ext>
            </a:extLst>
          </p:cNvPr>
          <p:cNvSpPr>
            <a:spLocks noGrp="1"/>
          </p:cNvSpPr>
          <p:nvPr>
            <p:ph type="sldNum" sz="quarter" idx="12"/>
          </p:nvPr>
        </p:nvSpPr>
        <p:spPr/>
        <p:txBody>
          <a:bodyPr/>
          <a:lstStyle/>
          <a:p>
            <a:fld id="{EFF0204D-1329-4F27-9091-DFFD6FAF0182}" type="slidenum">
              <a:rPr lang="en-IN" smtClean="0"/>
              <a:t>‹#›</a:t>
            </a:fld>
            <a:endParaRPr lang="en-IN"/>
          </a:p>
        </p:txBody>
      </p:sp>
    </p:spTree>
    <p:extLst>
      <p:ext uri="{BB962C8B-B14F-4D97-AF65-F5344CB8AC3E}">
        <p14:creationId xmlns:p14="http://schemas.microsoft.com/office/powerpoint/2010/main" val="33521763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1DF63-F2DC-D5F9-5631-7F8CA3B15EA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A0631D1-A620-5F37-B873-42F7EFD96A00}"/>
              </a:ext>
            </a:extLst>
          </p:cNvPr>
          <p:cNvSpPr>
            <a:spLocks noGrp="1"/>
          </p:cNvSpPr>
          <p:nvPr>
            <p:ph type="dt" sz="half" idx="10"/>
          </p:nvPr>
        </p:nvSpPr>
        <p:spPr/>
        <p:txBody>
          <a:bodyPr/>
          <a:lstStyle/>
          <a:p>
            <a:fld id="{35DCD64B-6FE7-4441-90F0-B597E388B9E5}" type="datetimeFigureOut">
              <a:rPr lang="en-IN" smtClean="0"/>
              <a:t>21-03-2026</a:t>
            </a:fld>
            <a:endParaRPr lang="en-IN"/>
          </a:p>
        </p:txBody>
      </p:sp>
      <p:sp>
        <p:nvSpPr>
          <p:cNvPr id="4" name="Footer Placeholder 3">
            <a:extLst>
              <a:ext uri="{FF2B5EF4-FFF2-40B4-BE49-F238E27FC236}">
                <a16:creationId xmlns:a16="http://schemas.microsoft.com/office/drawing/2014/main" id="{84479BEF-CD08-00E9-1EDC-D9BE795D00A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5B9BCA-DE60-26D6-CFAE-7B4B2611A32F}"/>
              </a:ext>
            </a:extLst>
          </p:cNvPr>
          <p:cNvSpPr>
            <a:spLocks noGrp="1"/>
          </p:cNvSpPr>
          <p:nvPr>
            <p:ph type="sldNum" sz="quarter" idx="12"/>
          </p:nvPr>
        </p:nvSpPr>
        <p:spPr/>
        <p:txBody>
          <a:bodyPr/>
          <a:lstStyle/>
          <a:p>
            <a:fld id="{EFF0204D-1329-4F27-9091-DFFD6FAF0182}" type="slidenum">
              <a:rPr lang="en-IN" smtClean="0"/>
              <a:t>‹#›</a:t>
            </a:fld>
            <a:endParaRPr lang="en-IN"/>
          </a:p>
        </p:txBody>
      </p:sp>
    </p:spTree>
    <p:extLst>
      <p:ext uri="{BB962C8B-B14F-4D97-AF65-F5344CB8AC3E}">
        <p14:creationId xmlns:p14="http://schemas.microsoft.com/office/powerpoint/2010/main" val="4187573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3A3C41-2DDB-95A8-2E81-C3C5BBBCFA6A}"/>
              </a:ext>
            </a:extLst>
          </p:cNvPr>
          <p:cNvSpPr>
            <a:spLocks noGrp="1"/>
          </p:cNvSpPr>
          <p:nvPr>
            <p:ph type="dt" sz="half" idx="10"/>
          </p:nvPr>
        </p:nvSpPr>
        <p:spPr/>
        <p:txBody>
          <a:bodyPr/>
          <a:lstStyle/>
          <a:p>
            <a:fld id="{35DCD64B-6FE7-4441-90F0-B597E388B9E5}" type="datetimeFigureOut">
              <a:rPr lang="en-IN" smtClean="0"/>
              <a:t>21-03-2026</a:t>
            </a:fld>
            <a:endParaRPr lang="en-IN"/>
          </a:p>
        </p:txBody>
      </p:sp>
      <p:sp>
        <p:nvSpPr>
          <p:cNvPr id="3" name="Footer Placeholder 2">
            <a:extLst>
              <a:ext uri="{FF2B5EF4-FFF2-40B4-BE49-F238E27FC236}">
                <a16:creationId xmlns:a16="http://schemas.microsoft.com/office/drawing/2014/main" id="{E7E218B4-59A1-A17A-8B1A-C60126D688C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E86D6F7-1A30-65FA-25BC-8D535213F461}"/>
              </a:ext>
            </a:extLst>
          </p:cNvPr>
          <p:cNvSpPr>
            <a:spLocks noGrp="1"/>
          </p:cNvSpPr>
          <p:nvPr>
            <p:ph type="sldNum" sz="quarter" idx="12"/>
          </p:nvPr>
        </p:nvSpPr>
        <p:spPr/>
        <p:txBody>
          <a:bodyPr/>
          <a:lstStyle/>
          <a:p>
            <a:fld id="{EFF0204D-1329-4F27-9091-DFFD6FAF0182}" type="slidenum">
              <a:rPr lang="en-IN" smtClean="0"/>
              <a:t>‹#›</a:t>
            </a:fld>
            <a:endParaRPr lang="en-IN"/>
          </a:p>
        </p:txBody>
      </p:sp>
    </p:spTree>
    <p:extLst>
      <p:ext uri="{BB962C8B-B14F-4D97-AF65-F5344CB8AC3E}">
        <p14:creationId xmlns:p14="http://schemas.microsoft.com/office/powerpoint/2010/main" val="3762816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6E184-98ED-F061-852B-B10BDA1490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AFC063A-E051-4162-F99A-6DF3CDA57A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1A69F91-48E1-A474-FFCB-85AB16FEEF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2ADDB0-762C-882E-BAF8-7BEDFC4D607D}"/>
              </a:ext>
            </a:extLst>
          </p:cNvPr>
          <p:cNvSpPr>
            <a:spLocks noGrp="1"/>
          </p:cNvSpPr>
          <p:nvPr>
            <p:ph type="dt" sz="half" idx="10"/>
          </p:nvPr>
        </p:nvSpPr>
        <p:spPr/>
        <p:txBody>
          <a:bodyPr/>
          <a:lstStyle/>
          <a:p>
            <a:fld id="{35DCD64B-6FE7-4441-90F0-B597E388B9E5}" type="datetimeFigureOut">
              <a:rPr lang="en-IN" smtClean="0"/>
              <a:t>21-03-2026</a:t>
            </a:fld>
            <a:endParaRPr lang="en-IN"/>
          </a:p>
        </p:txBody>
      </p:sp>
      <p:sp>
        <p:nvSpPr>
          <p:cNvPr id="6" name="Footer Placeholder 5">
            <a:extLst>
              <a:ext uri="{FF2B5EF4-FFF2-40B4-BE49-F238E27FC236}">
                <a16:creationId xmlns:a16="http://schemas.microsoft.com/office/drawing/2014/main" id="{1C76208A-C883-384C-ED47-51923E5831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39F5F1-2C17-693E-EAE2-5A59FF35BC6D}"/>
              </a:ext>
            </a:extLst>
          </p:cNvPr>
          <p:cNvSpPr>
            <a:spLocks noGrp="1"/>
          </p:cNvSpPr>
          <p:nvPr>
            <p:ph type="sldNum" sz="quarter" idx="12"/>
          </p:nvPr>
        </p:nvSpPr>
        <p:spPr/>
        <p:txBody>
          <a:bodyPr/>
          <a:lstStyle/>
          <a:p>
            <a:fld id="{EFF0204D-1329-4F27-9091-DFFD6FAF0182}" type="slidenum">
              <a:rPr lang="en-IN" smtClean="0"/>
              <a:t>‹#›</a:t>
            </a:fld>
            <a:endParaRPr lang="en-IN"/>
          </a:p>
        </p:txBody>
      </p:sp>
    </p:spTree>
    <p:extLst>
      <p:ext uri="{BB962C8B-B14F-4D97-AF65-F5344CB8AC3E}">
        <p14:creationId xmlns:p14="http://schemas.microsoft.com/office/powerpoint/2010/main" val="4260904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A03F5-1D44-0DA6-897D-CC9C0151D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C48C56D-7F29-3083-7548-A0A2A1F7C2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C3E4162-E254-E79C-2607-78C04F47DA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1EFE8E-F8E0-AD7F-35D2-8DC920014B9F}"/>
              </a:ext>
            </a:extLst>
          </p:cNvPr>
          <p:cNvSpPr>
            <a:spLocks noGrp="1"/>
          </p:cNvSpPr>
          <p:nvPr>
            <p:ph type="dt" sz="half" idx="10"/>
          </p:nvPr>
        </p:nvSpPr>
        <p:spPr/>
        <p:txBody>
          <a:bodyPr/>
          <a:lstStyle/>
          <a:p>
            <a:fld id="{35DCD64B-6FE7-4441-90F0-B597E388B9E5}" type="datetimeFigureOut">
              <a:rPr lang="en-IN" smtClean="0"/>
              <a:t>21-03-2026</a:t>
            </a:fld>
            <a:endParaRPr lang="en-IN"/>
          </a:p>
        </p:txBody>
      </p:sp>
      <p:sp>
        <p:nvSpPr>
          <p:cNvPr id="6" name="Footer Placeholder 5">
            <a:extLst>
              <a:ext uri="{FF2B5EF4-FFF2-40B4-BE49-F238E27FC236}">
                <a16:creationId xmlns:a16="http://schemas.microsoft.com/office/drawing/2014/main" id="{9742DEEB-8DA4-62D9-C611-042BA733C3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CDC2317-BBC2-2602-C199-F0E85062381F}"/>
              </a:ext>
            </a:extLst>
          </p:cNvPr>
          <p:cNvSpPr>
            <a:spLocks noGrp="1"/>
          </p:cNvSpPr>
          <p:nvPr>
            <p:ph type="sldNum" sz="quarter" idx="12"/>
          </p:nvPr>
        </p:nvSpPr>
        <p:spPr/>
        <p:txBody>
          <a:bodyPr/>
          <a:lstStyle/>
          <a:p>
            <a:fld id="{EFF0204D-1329-4F27-9091-DFFD6FAF0182}" type="slidenum">
              <a:rPr lang="en-IN" smtClean="0"/>
              <a:t>‹#›</a:t>
            </a:fld>
            <a:endParaRPr lang="en-IN"/>
          </a:p>
        </p:txBody>
      </p:sp>
    </p:spTree>
    <p:extLst>
      <p:ext uri="{BB962C8B-B14F-4D97-AF65-F5344CB8AC3E}">
        <p14:creationId xmlns:p14="http://schemas.microsoft.com/office/powerpoint/2010/main" val="1010592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870C7-70A5-6C58-ED2F-19483EC8C35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795D520-260F-34DA-05C1-BB7B2B22BC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DA083B-D399-44A1-E215-4EEEB4FA1E6E}"/>
              </a:ext>
            </a:extLst>
          </p:cNvPr>
          <p:cNvSpPr>
            <a:spLocks noGrp="1"/>
          </p:cNvSpPr>
          <p:nvPr>
            <p:ph type="dt" sz="half" idx="10"/>
          </p:nvPr>
        </p:nvSpPr>
        <p:spPr/>
        <p:txBody>
          <a:bodyPr/>
          <a:lstStyle/>
          <a:p>
            <a:fld id="{35DCD64B-6FE7-4441-90F0-B597E388B9E5}" type="datetimeFigureOut">
              <a:rPr lang="en-IN" smtClean="0"/>
              <a:t>21-03-2026</a:t>
            </a:fld>
            <a:endParaRPr lang="en-IN"/>
          </a:p>
        </p:txBody>
      </p:sp>
      <p:sp>
        <p:nvSpPr>
          <p:cNvPr id="5" name="Footer Placeholder 4">
            <a:extLst>
              <a:ext uri="{FF2B5EF4-FFF2-40B4-BE49-F238E27FC236}">
                <a16:creationId xmlns:a16="http://schemas.microsoft.com/office/drawing/2014/main" id="{C6EDA963-CA20-C394-51E5-5C9E690C9F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A26194-95CB-C22B-B20D-79D56E173647}"/>
              </a:ext>
            </a:extLst>
          </p:cNvPr>
          <p:cNvSpPr>
            <a:spLocks noGrp="1"/>
          </p:cNvSpPr>
          <p:nvPr>
            <p:ph type="sldNum" sz="quarter" idx="12"/>
          </p:nvPr>
        </p:nvSpPr>
        <p:spPr/>
        <p:txBody>
          <a:bodyPr/>
          <a:lstStyle/>
          <a:p>
            <a:fld id="{EFF0204D-1329-4F27-9091-DFFD6FAF0182}" type="slidenum">
              <a:rPr lang="en-IN" smtClean="0"/>
              <a:t>‹#›</a:t>
            </a:fld>
            <a:endParaRPr lang="en-IN"/>
          </a:p>
        </p:txBody>
      </p:sp>
    </p:spTree>
    <p:extLst>
      <p:ext uri="{BB962C8B-B14F-4D97-AF65-F5344CB8AC3E}">
        <p14:creationId xmlns:p14="http://schemas.microsoft.com/office/powerpoint/2010/main" val="3039712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03B6D5-B714-8B21-A855-7E97C22BB83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8629C8-B8FE-EAAE-34C0-A6295AB434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180A80-298C-E346-FCDC-D9760A671FC1}"/>
              </a:ext>
            </a:extLst>
          </p:cNvPr>
          <p:cNvSpPr>
            <a:spLocks noGrp="1"/>
          </p:cNvSpPr>
          <p:nvPr>
            <p:ph type="dt" sz="half" idx="10"/>
          </p:nvPr>
        </p:nvSpPr>
        <p:spPr/>
        <p:txBody>
          <a:bodyPr/>
          <a:lstStyle/>
          <a:p>
            <a:fld id="{35DCD64B-6FE7-4441-90F0-B597E388B9E5}" type="datetimeFigureOut">
              <a:rPr lang="en-IN" smtClean="0"/>
              <a:t>21-03-2026</a:t>
            </a:fld>
            <a:endParaRPr lang="en-IN"/>
          </a:p>
        </p:txBody>
      </p:sp>
      <p:sp>
        <p:nvSpPr>
          <p:cNvPr id="5" name="Footer Placeholder 4">
            <a:extLst>
              <a:ext uri="{FF2B5EF4-FFF2-40B4-BE49-F238E27FC236}">
                <a16:creationId xmlns:a16="http://schemas.microsoft.com/office/drawing/2014/main" id="{CB8FE745-AA3C-182C-4448-A979669AE0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866CA4-3DBD-5324-11AA-BAEF557D7AFE}"/>
              </a:ext>
            </a:extLst>
          </p:cNvPr>
          <p:cNvSpPr>
            <a:spLocks noGrp="1"/>
          </p:cNvSpPr>
          <p:nvPr>
            <p:ph type="sldNum" sz="quarter" idx="12"/>
          </p:nvPr>
        </p:nvSpPr>
        <p:spPr/>
        <p:txBody>
          <a:bodyPr/>
          <a:lstStyle/>
          <a:p>
            <a:fld id="{EFF0204D-1329-4F27-9091-DFFD6FAF0182}" type="slidenum">
              <a:rPr lang="en-IN" smtClean="0"/>
              <a:t>‹#›</a:t>
            </a:fld>
            <a:endParaRPr lang="en-IN"/>
          </a:p>
        </p:txBody>
      </p:sp>
    </p:spTree>
    <p:extLst>
      <p:ext uri="{BB962C8B-B14F-4D97-AF65-F5344CB8AC3E}">
        <p14:creationId xmlns:p14="http://schemas.microsoft.com/office/powerpoint/2010/main" val="3976975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095DAF-96FD-A1ED-FE47-5CCFFBE82E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0B3A94B-6276-1981-17D4-A9ABD33B0F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89E31B-8C34-5224-1236-EAF1114E6A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DCD64B-6FE7-4441-90F0-B597E388B9E5}" type="datetimeFigureOut">
              <a:rPr lang="en-IN" smtClean="0"/>
              <a:t>21-03-2026</a:t>
            </a:fld>
            <a:endParaRPr lang="en-IN"/>
          </a:p>
        </p:txBody>
      </p:sp>
      <p:sp>
        <p:nvSpPr>
          <p:cNvPr id="5" name="Footer Placeholder 4">
            <a:extLst>
              <a:ext uri="{FF2B5EF4-FFF2-40B4-BE49-F238E27FC236}">
                <a16:creationId xmlns:a16="http://schemas.microsoft.com/office/drawing/2014/main" id="{FDEB21B5-173D-B355-A246-7B8434C94B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D4A90F4-42BE-DDCF-E95D-B79B2A1C04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F0204D-1329-4F27-9091-DFFD6FAF0182}" type="slidenum">
              <a:rPr lang="en-IN" smtClean="0"/>
              <a:t>‹#›</a:t>
            </a:fld>
            <a:endParaRPr lang="en-IN"/>
          </a:p>
        </p:txBody>
      </p:sp>
    </p:spTree>
    <p:extLst>
      <p:ext uri="{BB962C8B-B14F-4D97-AF65-F5344CB8AC3E}">
        <p14:creationId xmlns:p14="http://schemas.microsoft.com/office/powerpoint/2010/main" val="31574413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18E53-E163-2F25-EF83-A5A805A245AA}"/>
              </a:ext>
            </a:extLst>
          </p:cNvPr>
          <p:cNvSpPr>
            <a:spLocks noGrp="1"/>
          </p:cNvSpPr>
          <p:nvPr>
            <p:ph type="ctrTitle"/>
          </p:nvPr>
        </p:nvSpPr>
        <p:spPr>
          <a:xfrm>
            <a:off x="470261" y="1809135"/>
            <a:ext cx="11251474" cy="2652662"/>
          </a:xfrm>
        </p:spPr>
        <p:txBody>
          <a:bodyPr>
            <a:normAutofit/>
          </a:bodyPr>
          <a:lstStyle/>
          <a:p>
            <a:r>
              <a:rPr lang="en-IN" sz="28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“Machine Learning Based Intrusion Detection System Using the UNSW-NB15 Dataset”</a:t>
            </a:r>
            <a:br>
              <a:rPr lang="en-IN" sz="2800" dirty="0">
                <a:latin typeface="Times New Roman" panose="02020603050405020304" pitchFamily="18" charset="0"/>
                <a:cs typeface="Times New Roman" panose="02020603050405020304" pitchFamily="18" charset="0"/>
              </a:rPr>
            </a:br>
            <a:br>
              <a:rPr lang="en-IN" sz="2800" dirty="0"/>
            </a:br>
            <a:br>
              <a:rPr lang="en-US" sz="2800" b="1" i="0" dirty="0">
                <a:effectLst/>
                <a:latin typeface="Arial" panose="020B0604020202020204" pitchFamily="34" charset="0"/>
                <a:cs typeface="Arial" panose="020B0604020202020204" pitchFamily="34" charset="0"/>
              </a:rPr>
            </a:br>
            <a:br>
              <a:rPr lang="en-US" sz="2800" i="0" dirty="0">
                <a:effectLst/>
                <a:latin typeface="Arial" panose="020B0604020202020204" pitchFamily="34" charset="0"/>
                <a:cs typeface="Arial" panose="020B0604020202020204" pitchFamily="34" charset="0"/>
              </a:rPr>
            </a:br>
            <a:endParaRPr lang="en-IN" sz="2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FD5FDAB-DC3A-5BB1-19D6-43674D1F4B4F}"/>
              </a:ext>
            </a:extLst>
          </p:cNvPr>
          <p:cNvSpPr>
            <a:spLocks noGrp="1"/>
          </p:cNvSpPr>
          <p:nvPr>
            <p:ph type="subTitle" idx="1"/>
          </p:nvPr>
        </p:nvSpPr>
        <p:spPr>
          <a:xfrm>
            <a:off x="1527754" y="2965609"/>
            <a:ext cx="9136489" cy="3506598"/>
          </a:xfrm>
        </p:spPr>
        <p:txBody>
          <a:bodyPr>
            <a:normAutofit lnSpcReduction="10000"/>
          </a:bodyPr>
          <a:lstStyle/>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Presented by:</a:t>
            </a:r>
          </a:p>
          <a:p>
            <a:r>
              <a:rPr lang="en-IN" dirty="0">
                <a:latin typeface="Times New Roman" panose="02020603050405020304" pitchFamily="18" charset="0"/>
                <a:cs typeface="Times New Roman" panose="02020603050405020304" pitchFamily="18" charset="0"/>
              </a:rPr>
              <a:t>L. Jahnavi Sai (23024)</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M. Lakshmi Mahathi (23052)</a:t>
            </a:r>
          </a:p>
          <a:p>
            <a:endParaRPr lang="en-IN" dirty="0">
              <a:latin typeface="Times New Roman" panose="02020603050405020304" pitchFamily="18" charset="0"/>
              <a:cs typeface="Times New Roman" panose="02020603050405020304" pitchFamily="18" charset="0"/>
            </a:endParaRPr>
          </a:p>
          <a:p>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Department of Computer Science </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Course:</a:t>
            </a:r>
            <a:r>
              <a:rPr lang="en-IN" dirty="0">
                <a:latin typeface="Times New Roman" panose="02020603050405020304" pitchFamily="18" charset="0"/>
                <a:cs typeface="Times New Roman" panose="02020603050405020304" pitchFamily="18" charset="0"/>
              </a:rPr>
              <a:t> Foundations of Cyber Security </a:t>
            </a:r>
          </a:p>
          <a:p>
            <a:r>
              <a:rPr lang="en-IN" b="1" dirty="0">
                <a:latin typeface="Times New Roman" panose="02020603050405020304" pitchFamily="18" charset="0"/>
                <a:cs typeface="Times New Roman" panose="02020603050405020304" pitchFamily="18" charset="0"/>
              </a:rPr>
              <a:t>Submitted to: </a:t>
            </a:r>
            <a:r>
              <a:rPr lang="en-IN" dirty="0" err="1">
                <a:latin typeface="Times New Roman" panose="02020603050405020304" pitchFamily="18" charset="0"/>
                <a:cs typeface="Times New Roman" panose="02020603050405020304" pitchFamily="18" charset="0"/>
              </a:rPr>
              <a:t>Dr.Bidyapathi</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Thiyam</a:t>
            </a:r>
            <a:r>
              <a:rPr lang="en-IN" dirty="0">
                <a:latin typeface="Times New Roman" panose="02020603050405020304" pitchFamily="18" charset="0"/>
                <a:cs typeface="Times New Roman" panose="02020603050405020304" pitchFamily="18" charset="0"/>
              </a:rPr>
              <a:t> Mam</a:t>
            </a:r>
          </a:p>
          <a:p>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E2D7995-7B27-C80C-AAF5-41540B75A1F1}"/>
              </a:ext>
            </a:extLst>
          </p:cNvPr>
          <p:cNvPicPr>
            <a:picLocks noChangeAspect="1"/>
          </p:cNvPicPr>
          <p:nvPr/>
        </p:nvPicPr>
        <p:blipFill>
          <a:blip r:embed="rId3"/>
          <a:stretch>
            <a:fillRect/>
          </a:stretch>
        </p:blipFill>
        <p:spPr>
          <a:xfrm>
            <a:off x="2592197" y="0"/>
            <a:ext cx="7457812" cy="1937857"/>
          </a:xfrm>
          <a:prstGeom prst="rect">
            <a:avLst/>
          </a:prstGeom>
        </p:spPr>
      </p:pic>
    </p:spTree>
    <p:extLst>
      <p:ext uri="{BB962C8B-B14F-4D97-AF65-F5344CB8AC3E}">
        <p14:creationId xmlns:p14="http://schemas.microsoft.com/office/powerpoint/2010/main" val="778361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BDA028-722D-7899-2F13-1AC47278D1CE}"/>
              </a:ext>
            </a:extLst>
          </p:cNvPr>
          <p:cNvSpPr txBox="1"/>
          <p:nvPr/>
        </p:nvSpPr>
        <p:spPr>
          <a:xfrm>
            <a:off x="1363762" y="1126232"/>
            <a:ext cx="8412061" cy="6075830"/>
          </a:xfrm>
          <a:prstGeom prst="rect">
            <a:avLst/>
          </a:prstGeom>
          <a:noFill/>
        </p:spPr>
        <p:txBody>
          <a:bodyPr wrap="square">
            <a:spAutoFit/>
          </a:bodyPr>
          <a:lstStyle/>
          <a:p>
            <a:pPr marL="342900" lvl="0" indent="-342900">
              <a:lnSpc>
                <a:spcPct val="115000"/>
              </a:lnSpc>
              <a:spcAft>
                <a:spcPts val="1000"/>
              </a:spcAft>
              <a:buFont typeface="Arial" panose="020B0604020202020204" pitchFamily="34" charset="0"/>
              <a:buChar char="•"/>
              <a:tabLst>
                <a:tab pos="457200" algn="l"/>
              </a:tabLst>
            </a:pPr>
            <a:r>
              <a:rPr lang="en-IN" sz="2000" dirty="0">
                <a:effectLst/>
                <a:latin typeface="Times New Roman" panose="02020603050405020304" pitchFamily="18" charset="0"/>
                <a:ea typeface="MS Mincho" panose="02020609040205080304" pitchFamily="49" charset="-128"/>
                <a:cs typeface="Times New Roman" panose="02020603050405020304" pitchFamily="18" charset="0"/>
              </a:rPr>
              <a:t>Introduction</a:t>
            </a:r>
          </a:p>
          <a:p>
            <a:pPr marL="342900" lvl="0" indent="-342900">
              <a:lnSpc>
                <a:spcPct val="115000"/>
              </a:lnSpc>
              <a:spcAft>
                <a:spcPts val="1000"/>
              </a:spcAft>
              <a:buFont typeface="Arial" panose="020B0604020202020204" pitchFamily="34" charset="0"/>
              <a:buChar char="•"/>
              <a:tabLst>
                <a:tab pos="457200" algn="l"/>
              </a:tabLst>
            </a:pPr>
            <a:r>
              <a:rPr lang="en-IN" sz="2000" dirty="0">
                <a:effectLst/>
                <a:latin typeface="Times New Roman" panose="02020603050405020304" pitchFamily="18" charset="0"/>
                <a:ea typeface="MS Mincho" panose="02020609040205080304" pitchFamily="49" charset="-128"/>
                <a:cs typeface="Times New Roman" panose="02020603050405020304" pitchFamily="18" charset="0"/>
              </a:rPr>
              <a:t>Problem Statement</a:t>
            </a:r>
          </a:p>
          <a:p>
            <a:pPr marL="342900" lvl="0" indent="-342900">
              <a:lnSpc>
                <a:spcPct val="115000"/>
              </a:lnSpc>
              <a:spcAft>
                <a:spcPts val="1000"/>
              </a:spcAft>
              <a:buFont typeface="Arial" panose="020B0604020202020204" pitchFamily="34" charset="0"/>
              <a:buChar char="•"/>
              <a:tabLst>
                <a:tab pos="457200" algn="l"/>
              </a:tabLst>
            </a:pPr>
            <a:r>
              <a:rPr lang="en-IN" sz="2000" dirty="0">
                <a:effectLst/>
                <a:latin typeface="Times New Roman" panose="02020603050405020304" pitchFamily="18" charset="0"/>
                <a:ea typeface="MS Mincho" panose="02020609040205080304" pitchFamily="49" charset="-128"/>
                <a:cs typeface="Times New Roman" panose="02020603050405020304" pitchFamily="18" charset="0"/>
              </a:rPr>
              <a:t>Objectives &amp; Key Contributions</a:t>
            </a:r>
          </a:p>
          <a:p>
            <a:pPr marL="342900" lvl="0" indent="-342900">
              <a:lnSpc>
                <a:spcPct val="115000"/>
              </a:lnSpc>
              <a:spcAft>
                <a:spcPts val="1000"/>
              </a:spcAft>
              <a:buFont typeface="Arial" panose="020B0604020202020204" pitchFamily="34" charset="0"/>
              <a:buChar char="•"/>
              <a:tabLst>
                <a:tab pos="457200" algn="l"/>
              </a:tabLst>
            </a:pPr>
            <a:r>
              <a:rPr lang="en-IN" sz="2000" dirty="0">
                <a:effectLst/>
                <a:latin typeface="Times New Roman" panose="02020603050405020304" pitchFamily="18" charset="0"/>
                <a:ea typeface="MS Mincho" panose="02020609040205080304" pitchFamily="49" charset="-128"/>
                <a:cs typeface="Times New Roman" panose="02020603050405020304" pitchFamily="18" charset="0"/>
              </a:rPr>
              <a:t>Dataset Description</a:t>
            </a:r>
          </a:p>
          <a:p>
            <a:pPr marL="342900" lvl="0" indent="-342900">
              <a:lnSpc>
                <a:spcPct val="115000"/>
              </a:lnSpc>
              <a:spcAft>
                <a:spcPts val="1000"/>
              </a:spcAft>
              <a:buFont typeface="Arial" panose="020B0604020202020204" pitchFamily="34" charset="0"/>
              <a:buChar char="•"/>
              <a:tabLst>
                <a:tab pos="457200" algn="l"/>
              </a:tabLst>
            </a:pPr>
            <a:r>
              <a:rPr lang="en-IN" sz="2000" dirty="0">
                <a:effectLst/>
                <a:latin typeface="Times New Roman" panose="02020603050405020304" pitchFamily="18" charset="0"/>
                <a:ea typeface="MS Mincho" panose="02020609040205080304" pitchFamily="49" charset="-128"/>
                <a:cs typeface="Times New Roman" panose="02020603050405020304" pitchFamily="18" charset="0"/>
              </a:rPr>
              <a:t>Literature Survey</a:t>
            </a:r>
          </a:p>
          <a:p>
            <a:pPr marL="342900" lvl="0" indent="-342900">
              <a:lnSpc>
                <a:spcPct val="115000"/>
              </a:lnSpc>
              <a:spcAft>
                <a:spcPts val="1000"/>
              </a:spcAft>
              <a:buFont typeface="Arial" panose="020B0604020202020204" pitchFamily="34" charset="0"/>
              <a:buChar char="•"/>
              <a:tabLst>
                <a:tab pos="457200" algn="l"/>
              </a:tabLst>
            </a:pPr>
            <a:r>
              <a:rPr lang="en-IN" sz="2000" dirty="0" err="1">
                <a:latin typeface="Times New Roman" panose="02020603050405020304" pitchFamily="18" charset="0"/>
                <a:ea typeface="MS Mincho" panose="02020609040205080304" pitchFamily="49" charset="-128"/>
                <a:cs typeface="Times New Roman" panose="02020603050405020304" pitchFamily="18" charset="0"/>
              </a:rPr>
              <a:t>BasePaper</a:t>
            </a: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lvl="0" indent="-342900">
              <a:lnSpc>
                <a:spcPct val="115000"/>
              </a:lnSpc>
              <a:spcAft>
                <a:spcPts val="1000"/>
              </a:spcAft>
              <a:buFont typeface="Arial" panose="020B0604020202020204" pitchFamily="34" charset="0"/>
              <a:buChar char="•"/>
              <a:tabLst>
                <a:tab pos="457200" algn="l"/>
              </a:tabLst>
            </a:pPr>
            <a:r>
              <a:rPr lang="en-IN" sz="2000" dirty="0">
                <a:effectLst/>
                <a:latin typeface="Times New Roman" panose="02020603050405020304" pitchFamily="18" charset="0"/>
                <a:ea typeface="MS Mincho" panose="02020609040205080304" pitchFamily="49" charset="-128"/>
                <a:cs typeface="Times New Roman" panose="02020603050405020304" pitchFamily="18" charset="0"/>
              </a:rPr>
              <a:t>Methodology</a:t>
            </a:r>
          </a:p>
          <a:p>
            <a:pPr marL="342900" lvl="0" indent="-342900">
              <a:lnSpc>
                <a:spcPct val="115000"/>
              </a:lnSpc>
              <a:spcAft>
                <a:spcPts val="1000"/>
              </a:spcAft>
              <a:buFont typeface="Arial" panose="020B0604020202020204" pitchFamily="34" charset="0"/>
              <a:buChar char="•"/>
              <a:tabLst>
                <a:tab pos="457200" algn="l"/>
              </a:tabLst>
            </a:pPr>
            <a:r>
              <a:rPr lang="en-IN" sz="2000" dirty="0">
                <a:effectLst/>
                <a:latin typeface="Times New Roman" panose="02020603050405020304" pitchFamily="18" charset="0"/>
                <a:ea typeface="MS Mincho" panose="02020609040205080304" pitchFamily="49" charset="-128"/>
                <a:cs typeface="Times New Roman" panose="02020603050405020304" pitchFamily="18" charset="0"/>
              </a:rPr>
              <a:t>Model Implementation</a:t>
            </a:r>
          </a:p>
          <a:p>
            <a:pPr marL="342900" lvl="0" indent="-342900">
              <a:lnSpc>
                <a:spcPct val="115000"/>
              </a:lnSpc>
              <a:spcAft>
                <a:spcPts val="1000"/>
              </a:spcAft>
              <a:buFont typeface="Arial" panose="020B0604020202020204" pitchFamily="34" charset="0"/>
              <a:buChar char="•"/>
              <a:tabLst>
                <a:tab pos="457200" algn="l"/>
              </a:tabLst>
            </a:pPr>
            <a:r>
              <a:rPr lang="en-IN" sz="2000" dirty="0">
                <a:effectLst/>
                <a:latin typeface="Times New Roman" panose="02020603050405020304" pitchFamily="18" charset="0"/>
                <a:ea typeface="MS Mincho" panose="02020609040205080304" pitchFamily="49" charset="-128"/>
                <a:cs typeface="Times New Roman" panose="02020603050405020304" pitchFamily="18" charset="0"/>
              </a:rPr>
              <a:t>Results &amp; Analysis</a:t>
            </a:r>
          </a:p>
          <a:p>
            <a:pPr marL="342900" lvl="0" indent="-342900">
              <a:lnSpc>
                <a:spcPct val="115000"/>
              </a:lnSpc>
              <a:spcAft>
                <a:spcPts val="1000"/>
              </a:spcAft>
              <a:buFont typeface="Arial" panose="020B0604020202020204" pitchFamily="34" charset="0"/>
              <a:buChar char="•"/>
              <a:tabLst>
                <a:tab pos="457200" algn="l"/>
              </a:tabLst>
            </a:pPr>
            <a:r>
              <a:rPr lang="en-IN" sz="2000" dirty="0">
                <a:effectLst/>
                <a:latin typeface="Times New Roman" panose="02020603050405020304" pitchFamily="18" charset="0"/>
                <a:ea typeface="MS Mincho" panose="02020609040205080304" pitchFamily="49" charset="-128"/>
                <a:cs typeface="Times New Roman" panose="02020603050405020304" pitchFamily="18" charset="0"/>
              </a:rPr>
              <a:t>Conclusion</a:t>
            </a:r>
          </a:p>
          <a:p>
            <a:pPr marL="342900" lvl="0" indent="-342900">
              <a:lnSpc>
                <a:spcPct val="115000"/>
              </a:lnSpc>
              <a:spcAft>
                <a:spcPts val="1000"/>
              </a:spcAft>
              <a:buFont typeface="Arial" panose="020B0604020202020204" pitchFamily="34" charset="0"/>
              <a:buChar char="•"/>
              <a:tabLst>
                <a:tab pos="457200" algn="l"/>
              </a:tabLst>
            </a:pPr>
            <a:r>
              <a:rPr lang="en-IN" sz="2000" dirty="0">
                <a:latin typeface="Times New Roman" panose="02020603050405020304" pitchFamily="18" charset="0"/>
                <a:ea typeface="MS Mincho" panose="02020609040205080304" pitchFamily="49" charset="-128"/>
                <a:cs typeface="Times New Roman" panose="02020603050405020304" pitchFamily="18" charset="0"/>
              </a:rPr>
              <a:t>References</a:t>
            </a: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a:p>
            <a:pPr algn="ctr">
              <a:lnSpc>
                <a:spcPct val="115000"/>
              </a:lnSpc>
              <a:spcAft>
                <a:spcPts val="1000"/>
              </a:spcAft>
              <a:buNone/>
            </a:pPr>
            <a:br>
              <a:rPr lang="en-IN" sz="2000" dirty="0">
                <a:effectLst/>
                <a:latin typeface="Times New Roman" panose="02020603050405020304" pitchFamily="18" charset="0"/>
                <a:ea typeface="MS Mincho" panose="02020609040205080304" pitchFamily="49" charset="-128"/>
                <a:cs typeface="Times New Roman" panose="02020603050405020304" pitchFamily="18" charset="0"/>
              </a:rPr>
            </a:b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grpSp>
        <p:nvGrpSpPr>
          <p:cNvPr id="2" name="Google Shape;109;p21">
            <a:extLst>
              <a:ext uri="{FF2B5EF4-FFF2-40B4-BE49-F238E27FC236}">
                <a16:creationId xmlns:a16="http://schemas.microsoft.com/office/drawing/2014/main" id="{8D1BE2E1-073E-DF9B-10DB-200371DA281E}"/>
              </a:ext>
            </a:extLst>
          </p:cNvPr>
          <p:cNvGrpSpPr/>
          <p:nvPr/>
        </p:nvGrpSpPr>
        <p:grpSpPr>
          <a:xfrm>
            <a:off x="0" y="6471667"/>
            <a:ext cx="12191999" cy="386333"/>
            <a:chOff x="0" y="6342887"/>
            <a:chExt cx="12191999" cy="515111"/>
          </a:xfrm>
        </p:grpSpPr>
        <p:pic>
          <p:nvPicPr>
            <p:cNvPr id="4" name="Google Shape;110;p21">
              <a:extLst>
                <a:ext uri="{FF2B5EF4-FFF2-40B4-BE49-F238E27FC236}">
                  <a16:creationId xmlns:a16="http://schemas.microsoft.com/office/drawing/2014/main" id="{840EB7C0-6CA2-B20F-7C1E-D31A6A547F8E}"/>
                </a:ext>
              </a:extLst>
            </p:cNvPr>
            <p:cNvPicPr preferRelativeResize="0"/>
            <p:nvPr/>
          </p:nvPicPr>
          <p:blipFill rotWithShape="1">
            <a:blip r:embed="rId2">
              <a:alphaModFix/>
            </a:blip>
            <a:srcRect/>
            <a:stretch/>
          </p:blipFill>
          <p:spPr>
            <a:xfrm>
              <a:off x="126492" y="6490714"/>
              <a:ext cx="1781556" cy="313944"/>
            </a:xfrm>
            <a:prstGeom prst="rect">
              <a:avLst/>
            </a:prstGeom>
            <a:noFill/>
            <a:ln>
              <a:noFill/>
            </a:ln>
          </p:spPr>
        </p:pic>
        <p:pic>
          <p:nvPicPr>
            <p:cNvPr id="5" name="Google Shape;111;p21">
              <a:extLst>
                <a:ext uri="{FF2B5EF4-FFF2-40B4-BE49-F238E27FC236}">
                  <a16:creationId xmlns:a16="http://schemas.microsoft.com/office/drawing/2014/main" id="{C19767AC-9627-7A0E-461A-CEFA40CDDDB8}"/>
                </a:ext>
              </a:extLst>
            </p:cNvPr>
            <p:cNvPicPr preferRelativeResize="0"/>
            <p:nvPr/>
          </p:nvPicPr>
          <p:blipFill rotWithShape="1">
            <a:blip r:embed="rId3">
              <a:alphaModFix/>
            </a:blip>
            <a:srcRect/>
            <a:stretch/>
          </p:blipFill>
          <p:spPr>
            <a:xfrm>
              <a:off x="0" y="6342887"/>
              <a:ext cx="12191999" cy="515111"/>
            </a:xfrm>
            <a:prstGeom prst="rect">
              <a:avLst/>
            </a:prstGeom>
            <a:noFill/>
            <a:ln>
              <a:noFill/>
            </a:ln>
          </p:spPr>
        </p:pic>
        <p:pic>
          <p:nvPicPr>
            <p:cNvPr id="6" name="Google Shape;112;p21">
              <a:extLst>
                <a:ext uri="{FF2B5EF4-FFF2-40B4-BE49-F238E27FC236}">
                  <a16:creationId xmlns:a16="http://schemas.microsoft.com/office/drawing/2014/main" id="{129A78F8-2D89-E2DE-ED74-DA26DE832AC6}"/>
                </a:ext>
              </a:extLst>
            </p:cNvPr>
            <p:cNvPicPr preferRelativeResize="0"/>
            <p:nvPr/>
          </p:nvPicPr>
          <p:blipFill rotWithShape="1">
            <a:blip r:embed="rId2">
              <a:alphaModFix/>
            </a:blip>
            <a:srcRect/>
            <a:stretch/>
          </p:blipFill>
          <p:spPr>
            <a:xfrm>
              <a:off x="222503" y="6446518"/>
              <a:ext cx="1781556" cy="313942"/>
            </a:xfrm>
            <a:prstGeom prst="rect">
              <a:avLst/>
            </a:prstGeom>
            <a:noFill/>
            <a:ln>
              <a:noFill/>
            </a:ln>
          </p:spPr>
        </p:pic>
      </p:grpSp>
      <p:sp>
        <p:nvSpPr>
          <p:cNvPr id="8" name="TextBox 7">
            <a:extLst>
              <a:ext uri="{FF2B5EF4-FFF2-40B4-BE49-F238E27FC236}">
                <a16:creationId xmlns:a16="http://schemas.microsoft.com/office/drawing/2014/main" id="{53AB9EDA-A507-D98F-DA48-3C77D9552F86}"/>
              </a:ext>
            </a:extLst>
          </p:cNvPr>
          <p:cNvSpPr txBox="1"/>
          <p:nvPr/>
        </p:nvSpPr>
        <p:spPr>
          <a:xfrm>
            <a:off x="802495" y="415268"/>
            <a:ext cx="10025743" cy="710964"/>
          </a:xfrm>
          <a:prstGeom prst="rect">
            <a:avLst/>
          </a:prstGeom>
          <a:noFill/>
        </p:spPr>
        <p:txBody>
          <a:bodyPr wrap="square">
            <a:spAutoFit/>
          </a:bodyPr>
          <a:lstStyle/>
          <a:p>
            <a:pPr marL="342900" indent="-342900">
              <a:lnSpc>
                <a:spcPct val="115000"/>
              </a:lnSpc>
              <a:spcAft>
                <a:spcPts val="1000"/>
              </a:spcAft>
              <a:buFont typeface="Wingdings" panose="05000000000000000000" pitchFamily="2" charset="2"/>
              <a:buChar char="q"/>
            </a:pPr>
            <a:r>
              <a:rPr lang="en-IN" sz="3800" b="1"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rPr>
              <a:t> Contents</a:t>
            </a:r>
            <a:endParaRPr lang="en-IN" sz="3800"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550980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D8957-856B-04B5-91A7-60933DBF6325}"/>
              </a:ext>
            </a:extLst>
          </p:cNvPr>
          <p:cNvSpPr>
            <a:spLocks noGrp="1"/>
          </p:cNvSpPr>
          <p:nvPr>
            <p:ph type="title"/>
          </p:nvPr>
        </p:nvSpPr>
        <p:spPr>
          <a:xfrm>
            <a:off x="435429" y="353103"/>
            <a:ext cx="10515600" cy="1325563"/>
          </a:xfrm>
        </p:spPr>
        <p:txBody>
          <a:bodyPr/>
          <a:lstStyle/>
          <a:p>
            <a:r>
              <a:rPr lang="en-IN"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Introduction </a:t>
            </a:r>
            <a:endParaRPr lang="en-IN" dirty="0"/>
          </a:p>
        </p:txBody>
      </p:sp>
      <p:grpSp>
        <p:nvGrpSpPr>
          <p:cNvPr id="4" name="Google Shape;109;p21">
            <a:extLst>
              <a:ext uri="{FF2B5EF4-FFF2-40B4-BE49-F238E27FC236}">
                <a16:creationId xmlns:a16="http://schemas.microsoft.com/office/drawing/2014/main" id="{1153250E-F5CF-B78D-277D-966CD4FB930F}"/>
              </a:ext>
            </a:extLst>
          </p:cNvPr>
          <p:cNvGrpSpPr/>
          <p:nvPr/>
        </p:nvGrpSpPr>
        <p:grpSpPr>
          <a:xfrm>
            <a:off x="0" y="6471667"/>
            <a:ext cx="12191999" cy="386333"/>
            <a:chOff x="0" y="6342887"/>
            <a:chExt cx="12191999" cy="515111"/>
          </a:xfrm>
        </p:grpSpPr>
        <p:pic>
          <p:nvPicPr>
            <p:cNvPr id="5" name="Google Shape;110;p21">
              <a:extLst>
                <a:ext uri="{FF2B5EF4-FFF2-40B4-BE49-F238E27FC236}">
                  <a16:creationId xmlns:a16="http://schemas.microsoft.com/office/drawing/2014/main" id="{39711295-DB94-E6B0-798C-CDAF7E5CE833}"/>
                </a:ext>
              </a:extLst>
            </p:cNvPr>
            <p:cNvPicPr preferRelativeResize="0"/>
            <p:nvPr/>
          </p:nvPicPr>
          <p:blipFill rotWithShape="1">
            <a:blip r:embed="rId2">
              <a:alphaModFix/>
            </a:blip>
            <a:srcRect/>
            <a:stretch/>
          </p:blipFill>
          <p:spPr>
            <a:xfrm>
              <a:off x="126492" y="6490714"/>
              <a:ext cx="1781556" cy="313944"/>
            </a:xfrm>
            <a:prstGeom prst="rect">
              <a:avLst/>
            </a:prstGeom>
            <a:noFill/>
            <a:ln>
              <a:noFill/>
            </a:ln>
          </p:spPr>
        </p:pic>
        <p:pic>
          <p:nvPicPr>
            <p:cNvPr id="6" name="Google Shape;111;p21">
              <a:extLst>
                <a:ext uri="{FF2B5EF4-FFF2-40B4-BE49-F238E27FC236}">
                  <a16:creationId xmlns:a16="http://schemas.microsoft.com/office/drawing/2014/main" id="{EAAF9D75-4FB3-CE02-9959-01FB90440D98}"/>
                </a:ext>
              </a:extLst>
            </p:cNvPr>
            <p:cNvPicPr preferRelativeResize="0"/>
            <p:nvPr/>
          </p:nvPicPr>
          <p:blipFill rotWithShape="1">
            <a:blip r:embed="rId3">
              <a:alphaModFix/>
            </a:blip>
            <a:srcRect/>
            <a:stretch/>
          </p:blipFill>
          <p:spPr>
            <a:xfrm>
              <a:off x="0" y="6342887"/>
              <a:ext cx="12191999" cy="515111"/>
            </a:xfrm>
            <a:prstGeom prst="rect">
              <a:avLst/>
            </a:prstGeom>
            <a:noFill/>
            <a:ln>
              <a:noFill/>
            </a:ln>
          </p:spPr>
        </p:pic>
        <p:pic>
          <p:nvPicPr>
            <p:cNvPr id="7" name="Google Shape;112;p21">
              <a:extLst>
                <a:ext uri="{FF2B5EF4-FFF2-40B4-BE49-F238E27FC236}">
                  <a16:creationId xmlns:a16="http://schemas.microsoft.com/office/drawing/2014/main" id="{93217096-5DCD-65AC-750A-D1C1380FA919}"/>
                </a:ext>
              </a:extLst>
            </p:cNvPr>
            <p:cNvPicPr preferRelativeResize="0"/>
            <p:nvPr/>
          </p:nvPicPr>
          <p:blipFill rotWithShape="1">
            <a:blip r:embed="rId2">
              <a:alphaModFix/>
            </a:blip>
            <a:srcRect/>
            <a:stretch/>
          </p:blipFill>
          <p:spPr>
            <a:xfrm>
              <a:off x="222503" y="6446518"/>
              <a:ext cx="1781556" cy="313942"/>
            </a:xfrm>
            <a:prstGeom prst="rect">
              <a:avLst/>
            </a:prstGeom>
            <a:noFill/>
            <a:ln>
              <a:noFill/>
            </a:ln>
          </p:spPr>
        </p:pic>
      </p:grpSp>
      <p:sp>
        <p:nvSpPr>
          <p:cNvPr id="8" name="Rectangle 1">
            <a:extLst>
              <a:ext uri="{FF2B5EF4-FFF2-40B4-BE49-F238E27FC236}">
                <a16:creationId xmlns:a16="http://schemas.microsoft.com/office/drawing/2014/main" id="{FF7DEF66-7C03-65DB-4F01-0E01DD55CEC1}"/>
              </a:ext>
            </a:extLst>
          </p:cNvPr>
          <p:cNvSpPr>
            <a:spLocks noGrp="1" noChangeArrowheads="1"/>
          </p:cNvSpPr>
          <p:nvPr>
            <p:ph idx="1"/>
          </p:nvPr>
        </p:nvSpPr>
        <p:spPr bwMode="auto">
          <a:xfrm>
            <a:off x="435429" y="1454859"/>
            <a:ext cx="10918371" cy="4197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rapid growth of the internet, cloud computing, IoT devices, and smart technologies has greatly increased the amount of network traffic generated every day.</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this growth, cyber-attacks such as malware, phishing, denial-of-service attacks, and unauthorized access have also increased significantly.</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cyber threats can cause serious damage including data breaches, financial losses, and disruption of critical network services.</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security systems like firewalls and rule-based intrusion detection systems often fail to detect new or unknown attack patterns.</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research focuses on improving intrusion detection using machine learning models to accurately classify network traffic as normal or malicious.</a:t>
            </a:r>
          </a:p>
        </p:txBody>
      </p:sp>
    </p:spTree>
    <p:extLst>
      <p:ext uri="{BB962C8B-B14F-4D97-AF65-F5344CB8AC3E}">
        <p14:creationId xmlns:p14="http://schemas.microsoft.com/office/powerpoint/2010/main" val="1518468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FAA811-6600-8EB4-60BC-34ED81041A41}"/>
              </a:ext>
            </a:extLst>
          </p:cNvPr>
          <p:cNvSpPr txBox="1"/>
          <p:nvPr/>
        </p:nvSpPr>
        <p:spPr>
          <a:xfrm>
            <a:off x="849365" y="1434954"/>
            <a:ext cx="10633102" cy="3730317"/>
          </a:xfrm>
          <a:prstGeom prst="rect">
            <a:avLst/>
          </a:prstGeom>
          <a:noFill/>
        </p:spPr>
        <p:txBody>
          <a:bodyPr wrap="square">
            <a:spAutoFit/>
          </a:bodyPr>
          <a:lstStyle/>
          <a:p>
            <a:pPr marL="342900" indent="-342900">
              <a:lnSpc>
                <a:spcPct val="150000"/>
              </a:lnSpc>
              <a:spcAft>
                <a:spcPts val="10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rapid increase in network traffic and cyber-attacks makes it difficult for traditional intrusion detection systems to accurately identify malicious activities. Existing systems often suffer from high false alarm rates and limited ability to detect complex attack patterns. This project addresses the problem of detecting cyber-attacks in network traffic using machine learning techniques. The UNSW-NB15 dataset is analyzed through data preprocessing, feature engineering, and feature selection to improve model performance. Multiple machine learning models are implemented and evaluated to accurately classify network traffic as normal or malicious while reducing false positives.</a:t>
            </a: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grpSp>
        <p:nvGrpSpPr>
          <p:cNvPr id="2" name="Google Shape;109;p21">
            <a:extLst>
              <a:ext uri="{FF2B5EF4-FFF2-40B4-BE49-F238E27FC236}">
                <a16:creationId xmlns:a16="http://schemas.microsoft.com/office/drawing/2014/main" id="{B96CA81D-35FB-0A7D-4760-CBF14A799F7D}"/>
              </a:ext>
            </a:extLst>
          </p:cNvPr>
          <p:cNvGrpSpPr/>
          <p:nvPr/>
        </p:nvGrpSpPr>
        <p:grpSpPr>
          <a:xfrm>
            <a:off x="0" y="6471667"/>
            <a:ext cx="12191999" cy="386333"/>
            <a:chOff x="0" y="6342887"/>
            <a:chExt cx="12191999" cy="515111"/>
          </a:xfrm>
        </p:grpSpPr>
        <p:pic>
          <p:nvPicPr>
            <p:cNvPr id="4" name="Google Shape;110;p21">
              <a:extLst>
                <a:ext uri="{FF2B5EF4-FFF2-40B4-BE49-F238E27FC236}">
                  <a16:creationId xmlns:a16="http://schemas.microsoft.com/office/drawing/2014/main" id="{D7ACE2D0-643A-B5A2-2D47-985ADE428080}"/>
                </a:ext>
              </a:extLst>
            </p:cNvPr>
            <p:cNvPicPr preferRelativeResize="0"/>
            <p:nvPr/>
          </p:nvPicPr>
          <p:blipFill rotWithShape="1">
            <a:blip r:embed="rId2">
              <a:alphaModFix/>
            </a:blip>
            <a:srcRect/>
            <a:stretch/>
          </p:blipFill>
          <p:spPr>
            <a:xfrm>
              <a:off x="126492" y="6490714"/>
              <a:ext cx="1781556" cy="313944"/>
            </a:xfrm>
            <a:prstGeom prst="rect">
              <a:avLst/>
            </a:prstGeom>
            <a:noFill/>
            <a:ln>
              <a:noFill/>
            </a:ln>
          </p:spPr>
        </p:pic>
        <p:pic>
          <p:nvPicPr>
            <p:cNvPr id="5" name="Google Shape;111;p21">
              <a:extLst>
                <a:ext uri="{FF2B5EF4-FFF2-40B4-BE49-F238E27FC236}">
                  <a16:creationId xmlns:a16="http://schemas.microsoft.com/office/drawing/2014/main" id="{214C0F76-847D-9AFC-8A3E-A0BDE5AB7F2C}"/>
                </a:ext>
              </a:extLst>
            </p:cNvPr>
            <p:cNvPicPr preferRelativeResize="0"/>
            <p:nvPr/>
          </p:nvPicPr>
          <p:blipFill rotWithShape="1">
            <a:blip r:embed="rId3">
              <a:alphaModFix/>
            </a:blip>
            <a:srcRect/>
            <a:stretch/>
          </p:blipFill>
          <p:spPr>
            <a:xfrm>
              <a:off x="0" y="6342887"/>
              <a:ext cx="12191999" cy="515111"/>
            </a:xfrm>
            <a:prstGeom prst="rect">
              <a:avLst/>
            </a:prstGeom>
            <a:noFill/>
            <a:ln>
              <a:noFill/>
            </a:ln>
          </p:spPr>
        </p:pic>
        <p:pic>
          <p:nvPicPr>
            <p:cNvPr id="6" name="Google Shape;112;p21">
              <a:extLst>
                <a:ext uri="{FF2B5EF4-FFF2-40B4-BE49-F238E27FC236}">
                  <a16:creationId xmlns:a16="http://schemas.microsoft.com/office/drawing/2014/main" id="{94EFB218-C2EF-150B-AD86-354C27B34B26}"/>
                </a:ext>
              </a:extLst>
            </p:cNvPr>
            <p:cNvPicPr preferRelativeResize="0"/>
            <p:nvPr/>
          </p:nvPicPr>
          <p:blipFill rotWithShape="1">
            <a:blip r:embed="rId2">
              <a:alphaModFix/>
            </a:blip>
            <a:srcRect/>
            <a:stretch/>
          </p:blipFill>
          <p:spPr>
            <a:xfrm>
              <a:off x="222503" y="6446518"/>
              <a:ext cx="1781556" cy="313942"/>
            </a:xfrm>
            <a:prstGeom prst="rect">
              <a:avLst/>
            </a:prstGeom>
            <a:noFill/>
            <a:ln>
              <a:noFill/>
            </a:ln>
          </p:spPr>
        </p:pic>
      </p:grpSp>
      <p:sp>
        <p:nvSpPr>
          <p:cNvPr id="8" name="TextBox 7">
            <a:extLst>
              <a:ext uri="{FF2B5EF4-FFF2-40B4-BE49-F238E27FC236}">
                <a16:creationId xmlns:a16="http://schemas.microsoft.com/office/drawing/2014/main" id="{0BABAB38-8807-2170-AE76-774EEB1F0DE3}"/>
              </a:ext>
            </a:extLst>
          </p:cNvPr>
          <p:cNvSpPr txBox="1"/>
          <p:nvPr/>
        </p:nvSpPr>
        <p:spPr>
          <a:xfrm>
            <a:off x="576942" y="547101"/>
            <a:ext cx="10145485" cy="710964"/>
          </a:xfrm>
          <a:prstGeom prst="rect">
            <a:avLst/>
          </a:prstGeom>
          <a:noFill/>
        </p:spPr>
        <p:txBody>
          <a:bodyPr wrap="square">
            <a:spAutoFit/>
          </a:bodyPr>
          <a:lstStyle/>
          <a:p>
            <a:pPr marL="342900" indent="-342900">
              <a:lnSpc>
                <a:spcPct val="115000"/>
              </a:lnSpc>
              <a:spcAft>
                <a:spcPts val="1000"/>
              </a:spcAft>
              <a:buFont typeface="Wingdings" panose="05000000000000000000" pitchFamily="2" charset="2"/>
              <a:buChar char="q"/>
            </a:pPr>
            <a:r>
              <a:rPr lang="en-IN" sz="3800" b="1"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rPr>
              <a:t> Problem Statement</a:t>
            </a:r>
            <a:endParaRPr lang="en-IN" sz="3800"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610094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7CEEDC-0961-006E-C420-4AE1B1AEA80A}"/>
              </a:ext>
            </a:extLst>
          </p:cNvPr>
          <p:cNvSpPr txBox="1"/>
          <p:nvPr/>
        </p:nvSpPr>
        <p:spPr>
          <a:xfrm>
            <a:off x="1034143" y="1219418"/>
            <a:ext cx="10842172" cy="4930645"/>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Objectives</a:t>
            </a:r>
          </a:p>
          <a:p>
            <a:pPr marL="800100" lvl="1"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 evaluation using 5-Fold Stratified Cross-Validation instead of a single train–test split.</a:t>
            </a:r>
          </a:p>
          <a:p>
            <a:pPr marL="800100" lvl="1"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Handle class imbalance using SMOTE during training.</a:t>
            </a:r>
          </a:p>
          <a:p>
            <a:pPr marL="800100" lvl="1"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Extend the study by adding advanced ML/DL models like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LightGBM</a:t>
            </a:r>
            <a:endParaRPr lang="en-US"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Enhance detection performance using additional domain-based features.</a:t>
            </a:r>
          </a:p>
          <a:p>
            <a:pPr marL="342900" indent="-342900">
              <a:lnSpc>
                <a:spcPct val="150000"/>
              </a:lnSpc>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Key Contributions</a:t>
            </a:r>
          </a:p>
          <a:p>
            <a:pPr marL="800100" lvl="1"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Built an improved IDS pipeline with more reliable model evaluation.</a:t>
            </a:r>
          </a:p>
          <a:p>
            <a:pPr marL="800100" lvl="1"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Applied SMOTE within cross-validation folds to prevent data leakage.</a:t>
            </a:r>
          </a:p>
          <a:p>
            <a:pPr marL="800100" lvl="1"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Added multiple models beyond the base paper.</a:t>
            </a:r>
          </a:p>
          <a:p>
            <a:pPr marL="800100" lvl="1"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Introduced six new domain-based features to improve attack detection.</a:t>
            </a:r>
          </a:p>
          <a:p>
            <a:pPr marL="342900" indent="-342900">
              <a:lnSpc>
                <a:spcPct val="150000"/>
              </a:lnSpc>
              <a:spcAft>
                <a:spcPts val="1000"/>
              </a:spcAft>
              <a:buFont typeface="Wingdings" panose="05000000000000000000" pitchFamily="2" charset="2"/>
              <a:buChar char="Ø"/>
            </a:pP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grpSp>
        <p:nvGrpSpPr>
          <p:cNvPr id="2" name="Google Shape;109;p21">
            <a:extLst>
              <a:ext uri="{FF2B5EF4-FFF2-40B4-BE49-F238E27FC236}">
                <a16:creationId xmlns:a16="http://schemas.microsoft.com/office/drawing/2014/main" id="{CECA851B-1F8D-0ED2-E637-5AEF55EBF0DF}"/>
              </a:ext>
            </a:extLst>
          </p:cNvPr>
          <p:cNvGrpSpPr/>
          <p:nvPr/>
        </p:nvGrpSpPr>
        <p:grpSpPr>
          <a:xfrm>
            <a:off x="0" y="6471667"/>
            <a:ext cx="12191999" cy="386333"/>
            <a:chOff x="0" y="6342887"/>
            <a:chExt cx="12191999" cy="515111"/>
          </a:xfrm>
        </p:grpSpPr>
        <p:pic>
          <p:nvPicPr>
            <p:cNvPr id="4" name="Google Shape;110;p21">
              <a:extLst>
                <a:ext uri="{FF2B5EF4-FFF2-40B4-BE49-F238E27FC236}">
                  <a16:creationId xmlns:a16="http://schemas.microsoft.com/office/drawing/2014/main" id="{952E77D9-FFC8-68A9-BA6A-9A537E992A06}"/>
                </a:ext>
              </a:extLst>
            </p:cNvPr>
            <p:cNvPicPr preferRelativeResize="0"/>
            <p:nvPr/>
          </p:nvPicPr>
          <p:blipFill rotWithShape="1">
            <a:blip r:embed="rId3">
              <a:alphaModFix/>
            </a:blip>
            <a:srcRect/>
            <a:stretch/>
          </p:blipFill>
          <p:spPr>
            <a:xfrm>
              <a:off x="126492" y="6490714"/>
              <a:ext cx="1781556" cy="313944"/>
            </a:xfrm>
            <a:prstGeom prst="rect">
              <a:avLst/>
            </a:prstGeom>
            <a:noFill/>
            <a:ln>
              <a:noFill/>
            </a:ln>
          </p:spPr>
        </p:pic>
        <p:pic>
          <p:nvPicPr>
            <p:cNvPr id="5" name="Google Shape;111;p21">
              <a:extLst>
                <a:ext uri="{FF2B5EF4-FFF2-40B4-BE49-F238E27FC236}">
                  <a16:creationId xmlns:a16="http://schemas.microsoft.com/office/drawing/2014/main" id="{619F40CE-A146-8AD7-33FA-C84BFAD17A6C}"/>
                </a:ext>
              </a:extLst>
            </p:cNvPr>
            <p:cNvPicPr preferRelativeResize="0"/>
            <p:nvPr/>
          </p:nvPicPr>
          <p:blipFill rotWithShape="1">
            <a:blip r:embed="rId4">
              <a:alphaModFix/>
            </a:blip>
            <a:srcRect/>
            <a:stretch/>
          </p:blipFill>
          <p:spPr>
            <a:xfrm>
              <a:off x="0" y="6342887"/>
              <a:ext cx="12191999" cy="515111"/>
            </a:xfrm>
            <a:prstGeom prst="rect">
              <a:avLst/>
            </a:prstGeom>
            <a:noFill/>
            <a:ln>
              <a:noFill/>
            </a:ln>
          </p:spPr>
        </p:pic>
        <p:pic>
          <p:nvPicPr>
            <p:cNvPr id="6" name="Google Shape;112;p21">
              <a:extLst>
                <a:ext uri="{FF2B5EF4-FFF2-40B4-BE49-F238E27FC236}">
                  <a16:creationId xmlns:a16="http://schemas.microsoft.com/office/drawing/2014/main" id="{044C1F2C-3E9C-615F-57BA-CBBB91CD17F9}"/>
                </a:ext>
              </a:extLst>
            </p:cNvPr>
            <p:cNvPicPr preferRelativeResize="0"/>
            <p:nvPr/>
          </p:nvPicPr>
          <p:blipFill rotWithShape="1">
            <a:blip r:embed="rId3">
              <a:alphaModFix/>
            </a:blip>
            <a:srcRect/>
            <a:stretch/>
          </p:blipFill>
          <p:spPr>
            <a:xfrm>
              <a:off x="222503" y="6446518"/>
              <a:ext cx="1781556" cy="313942"/>
            </a:xfrm>
            <a:prstGeom prst="rect">
              <a:avLst/>
            </a:prstGeom>
            <a:noFill/>
            <a:ln>
              <a:noFill/>
            </a:ln>
          </p:spPr>
        </p:pic>
      </p:grpSp>
      <p:sp>
        <p:nvSpPr>
          <p:cNvPr id="8" name="TextBox 7">
            <a:extLst>
              <a:ext uri="{FF2B5EF4-FFF2-40B4-BE49-F238E27FC236}">
                <a16:creationId xmlns:a16="http://schemas.microsoft.com/office/drawing/2014/main" id="{FD0E2F2A-84BA-432B-0329-9A29E52BDAB0}"/>
              </a:ext>
            </a:extLst>
          </p:cNvPr>
          <p:cNvSpPr txBox="1"/>
          <p:nvPr/>
        </p:nvSpPr>
        <p:spPr>
          <a:xfrm>
            <a:off x="500742" y="362849"/>
            <a:ext cx="10635344" cy="710964"/>
          </a:xfrm>
          <a:prstGeom prst="rect">
            <a:avLst/>
          </a:prstGeom>
          <a:noFill/>
        </p:spPr>
        <p:txBody>
          <a:bodyPr wrap="square">
            <a:spAutoFit/>
          </a:bodyPr>
          <a:lstStyle/>
          <a:p>
            <a:pPr marL="342900" indent="-342900">
              <a:lnSpc>
                <a:spcPct val="115000"/>
              </a:lnSpc>
              <a:spcAft>
                <a:spcPts val="1000"/>
              </a:spcAft>
              <a:buFont typeface="Wingdings" panose="05000000000000000000" pitchFamily="2" charset="2"/>
              <a:buChar char="q"/>
            </a:pPr>
            <a:r>
              <a:rPr lang="en-IN" sz="3800" b="1"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rPr>
              <a:t>Objectives &amp; Key Contributions</a:t>
            </a:r>
            <a:endParaRPr lang="en-IN" sz="3800"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525398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CE51F-A12D-DEB8-E59F-05A9CA34B77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C0728A6-E86A-B8A2-9E54-3D99BAF29865}"/>
              </a:ext>
            </a:extLst>
          </p:cNvPr>
          <p:cNvSpPr txBox="1"/>
          <p:nvPr/>
        </p:nvSpPr>
        <p:spPr>
          <a:xfrm>
            <a:off x="849365" y="1449944"/>
            <a:ext cx="10633102" cy="4121000"/>
          </a:xfrm>
          <a:prstGeom prst="rect">
            <a:avLst/>
          </a:prstGeom>
          <a:noFill/>
        </p:spPr>
        <p:txBody>
          <a:bodyPr wrap="square">
            <a:spAutoFit/>
          </a:bodyPr>
          <a:lstStyle/>
          <a:p>
            <a:pPr marL="342900" indent="-342900">
              <a:lnSpc>
                <a:spcPct val="150000"/>
              </a:lnSpc>
              <a:spcAft>
                <a:spcPts val="10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project uses the UNSW-NB15 dataset, which contains realistic network traffic data used for building and evaluating intrusion detection systems</a:t>
            </a:r>
          </a:p>
          <a:p>
            <a:pPr marL="342900" indent="-342900">
              <a:lnSpc>
                <a:spcPct val="150000"/>
              </a:lnSpc>
              <a:spcAft>
                <a:spcPts val="10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dataset includes 2.54 Lakh network flow records generated from approximately 100 GB of captured network traffic.</a:t>
            </a:r>
          </a:p>
          <a:p>
            <a:pPr marL="342900" indent="-342900">
              <a:lnSpc>
                <a:spcPct val="150000"/>
              </a:lnSpc>
              <a:spcAft>
                <a:spcPts val="10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Each record contains 43 features, including attributes such as protocol type, service, source bytes (</a:t>
            </a:r>
            <a:r>
              <a:rPr lang="en-US" sz="2000" dirty="0" err="1">
                <a:latin typeface="Times New Roman" panose="02020603050405020304" pitchFamily="18" charset="0"/>
                <a:cs typeface="Times New Roman" panose="02020603050405020304" pitchFamily="18" charset="0"/>
              </a:rPr>
              <a:t>sbytes</a:t>
            </a:r>
            <a:r>
              <a:rPr lang="en-US" sz="2000" dirty="0">
                <a:latin typeface="Times New Roman" panose="02020603050405020304" pitchFamily="18" charset="0"/>
                <a:cs typeface="Times New Roman" panose="02020603050405020304" pitchFamily="18" charset="0"/>
              </a:rPr>
              <a:t>), destination bytes (</a:t>
            </a:r>
            <a:r>
              <a:rPr lang="en-US" sz="2000" dirty="0" err="1">
                <a:latin typeface="Times New Roman" panose="02020603050405020304" pitchFamily="18" charset="0"/>
                <a:cs typeface="Times New Roman" panose="02020603050405020304" pitchFamily="18" charset="0"/>
              </a:rPr>
              <a:t>dbytes</a:t>
            </a:r>
            <a:r>
              <a:rPr lang="en-US" sz="2000" dirty="0">
                <a:latin typeface="Times New Roman" panose="02020603050405020304" pitchFamily="18" charset="0"/>
                <a:cs typeface="Times New Roman" panose="02020603050405020304" pitchFamily="18" charset="0"/>
              </a:rPr>
              <a:t>), packet counts, and connection state.</a:t>
            </a:r>
          </a:p>
          <a:p>
            <a:pPr marL="342900" indent="-342900">
              <a:lnSpc>
                <a:spcPct val="150000"/>
              </a:lnSpc>
              <a:spcAft>
                <a:spcPts val="10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dataset contains both normal traffic and nine types of cyber-attacks, which helps in training models to distinguish between normal and malicious activities.</a:t>
            </a: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grpSp>
        <p:nvGrpSpPr>
          <p:cNvPr id="2" name="Google Shape;109;p21">
            <a:extLst>
              <a:ext uri="{FF2B5EF4-FFF2-40B4-BE49-F238E27FC236}">
                <a16:creationId xmlns:a16="http://schemas.microsoft.com/office/drawing/2014/main" id="{5026EB6B-A7A2-EFDC-9EAA-D8B586A49180}"/>
              </a:ext>
            </a:extLst>
          </p:cNvPr>
          <p:cNvGrpSpPr/>
          <p:nvPr/>
        </p:nvGrpSpPr>
        <p:grpSpPr>
          <a:xfrm>
            <a:off x="0" y="6471667"/>
            <a:ext cx="12191999" cy="386333"/>
            <a:chOff x="0" y="6342887"/>
            <a:chExt cx="12191999" cy="515111"/>
          </a:xfrm>
        </p:grpSpPr>
        <p:pic>
          <p:nvPicPr>
            <p:cNvPr id="4" name="Google Shape;110;p21">
              <a:extLst>
                <a:ext uri="{FF2B5EF4-FFF2-40B4-BE49-F238E27FC236}">
                  <a16:creationId xmlns:a16="http://schemas.microsoft.com/office/drawing/2014/main" id="{8DC26B1C-5D46-C330-B8C3-56F66BABE1AD}"/>
                </a:ext>
              </a:extLst>
            </p:cNvPr>
            <p:cNvPicPr preferRelativeResize="0"/>
            <p:nvPr/>
          </p:nvPicPr>
          <p:blipFill rotWithShape="1">
            <a:blip r:embed="rId2">
              <a:alphaModFix/>
            </a:blip>
            <a:srcRect/>
            <a:stretch/>
          </p:blipFill>
          <p:spPr>
            <a:xfrm>
              <a:off x="126492" y="6490714"/>
              <a:ext cx="1781556" cy="313944"/>
            </a:xfrm>
            <a:prstGeom prst="rect">
              <a:avLst/>
            </a:prstGeom>
            <a:noFill/>
            <a:ln>
              <a:noFill/>
            </a:ln>
          </p:spPr>
        </p:pic>
        <p:pic>
          <p:nvPicPr>
            <p:cNvPr id="5" name="Google Shape;111;p21">
              <a:extLst>
                <a:ext uri="{FF2B5EF4-FFF2-40B4-BE49-F238E27FC236}">
                  <a16:creationId xmlns:a16="http://schemas.microsoft.com/office/drawing/2014/main" id="{3CBA31E7-A7CC-9340-C279-ADE677661C0D}"/>
                </a:ext>
              </a:extLst>
            </p:cNvPr>
            <p:cNvPicPr preferRelativeResize="0"/>
            <p:nvPr/>
          </p:nvPicPr>
          <p:blipFill rotWithShape="1">
            <a:blip r:embed="rId3">
              <a:alphaModFix/>
            </a:blip>
            <a:srcRect/>
            <a:stretch/>
          </p:blipFill>
          <p:spPr>
            <a:xfrm>
              <a:off x="0" y="6342887"/>
              <a:ext cx="12191999" cy="515111"/>
            </a:xfrm>
            <a:prstGeom prst="rect">
              <a:avLst/>
            </a:prstGeom>
            <a:noFill/>
            <a:ln>
              <a:noFill/>
            </a:ln>
          </p:spPr>
        </p:pic>
        <p:pic>
          <p:nvPicPr>
            <p:cNvPr id="6" name="Google Shape;112;p21">
              <a:extLst>
                <a:ext uri="{FF2B5EF4-FFF2-40B4-BE49-F238E27FC236}">
                  <a16:creationId xmlns:a16="http://schemas.microsoft.com/office/drawing/2014/main" id="{1559A5E1-D1D6-8A24-94C7-D9B0C8B907FC}"/>
                </a:ext>
              </a:extLst>
            </p:cNvPr>
            <p:cNvPicPr preferRelativeResize="0"/>
            <p:nvPr/>
          </p:nvPicPr>
          <p:blipFill rotWithShape="1">
            <a:blip r:embed="rId2">
              <a:alphaModFix/>
            </a:blip>
            <a:srcRect/>
            <a:stretch/>
          </p:blipFill>
          <p:spPr>
            <a:xfrm>
              <a:off x="222503" y="6446518"/>
              <a:ext cx="1781556" cy="313942"/>
            </a:xfrm>
            <a:prstGeom prst="rect">
              <a:avLst/>
            </a:prstGeom>
            <a:noFill/>
            <a:ln>
              <a:noFill/>
            </a:ln>
          </p:spPr>
        </p:pic>
      </p:grpSp>
      <p:sp>
        <p:nvSpPr>
          <p:cNvPr id="8" name="TextBox 7">
            <a:extLst>
              <a:ext uri="{FF2B5EF4-FFF2-40B4-BE49-F238E27FC236}">
                <a16:creationId xmlns:a16="http://schemas.microsoft.com/office/drawing/2014/main" id="{5E896623-DAF0-F1F6-2BEE-A918CDF6CECF}"/>
              </a:ext>
            </a:extLst>
          </p:cNvPr>
          <p:cNvSpPr txBox="1"/>
          <p:nvPr/>
        </p:nvSpPr>
        <p:spPr>
          <a:xfrm>
            <a:off x="576942" y="547101"/>
            <a:ext cx="10145485" cy="710964"/>
          </a:xfrm>
          <a:prstGeom prst="rect">
            <a:avLst/>
          </a:prstGeom>
          <a:noFill/>
        </p:spPr>
        <p:txBody>
          <a:bodyPr wrap="square">
            <a:spAutoFit/>
          </a:bodyPr>
          <a:lstStyle/>
          <a:p>
            <a:pPr marL="342900" indent="-342900">
              <a:lnSpc>
                <a:spcPct val="115000"/>
              </a:lnSpc>
              <a:spcAft>
                <a:spcPts val="1000"/>
              </a:spcAft>
              <a:buFont typeface="Wingdings" panose="05000000000000000000" pitchFamily="2" charset="2"/>
              <a:buChar char="q"/>
            </a:pPr>
            <a:r>
              <a:rPr lang="en-IN" sz="3800" b="1" dirty="0">
                <a:solidFill>
                  <a:srgbClr val="0070C0"/>
                </a:solidFill>
                <a:latin typeface="Times New Roman" panose="02020603050405020304" pitchFamily="18" charset="0"/>
                <a:ea typeface="MS Mincho" panose="02020609040205080304" pitchFamily="49" charset="-128"/>
                <a:cs typeface="Times New Roman" panose="02020603050405020304" pitchFamily="18" charset="0"/>
              </a:rPr>
              <a:t>Dataset Description</a:t>
            </a:r>
            <a:endParaRPr lang="en-IN" sz="3800" dirty="0">
              <a:solidFill>
                <a:srgbClr val="0070C0"/>
              </a:solidFill>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41559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BAF79-7110-20A7-9420-23AAC5664D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B687F8-4A5B-A6ED-9400-E53E399B7880}"/>
              </a:ext>
            </a:extLst>
          </p:cNvPr>
          <p:cNvSpPr>
            <a:spLocks noGrp="1"/>
          </p:cNvSpPr>
          <p:nvPr>
            <p:ph type="title"/>
          </p:nvPr>
        </p:nvSpPr>
        <p:spPr>
          <a:xfrm>
            <a:off x="333375" y="0"/>
            <a:ext cx="10515600" cy="1325563"/>
          </a:xfrm>
        </p:spPr>
        <p:txBody>
          <a:bodyPr>
            <a:normAutofit/>
          </a:bodyPr>
          <a:lstStyle/>
          <a:p>
            <a:pPr marL="342900" indent="-342900">
              <a:lnSpc>
                <a:spcPct val="115000"/>
              </a:lnSpc>
              <a:spcAft>
                <a:spcPts val="1000"/>
              </a:spcAft>
              <a:buFont typeface="Wingdings" panose="05000000000000000000" pitchFamily="2" charset="2"/>
              <a:buChar char="q"/>
            </a:pPr>
            <a:r>
              <a:rPr lang="en-IN" sz="4000" b="1" dirty="0">
                <a:solidFill>
                  <a:srgbClr val="0070C0"/>
                </a:solidFill>
                <a:latin typeface="Times New Roman" panose="02020603050405020304" pitchFamily="18" charset="0"/>
                <a:ea typeface="MS Mincho" panose="02020609040205080304" pitchFamily="49" charset="-128"/>
                <a:cs typeface="Times New Roman" panose="02020603050405020304" pitchFamily="18" charset="0"/>
              </a:rPr>
              <a:t>Literature Survey</a:t>
            </a:r>
            <a:endParaRPr lang="en-IN" sz="4000" dirty="0">
              <a:solidFill>
                <a:srgbClr val="0070C0"/>
              </a:solidFill>
              <a:latin typeface="Times New Roman" panose="02020603050405020304" pitchFamily="18" charset="0"/>
              <a:ea typeface="MS Mincho" panose="02020609040205080304" pitchFamily="49" charset="-128"/>
              <a:cs typeface="Times New Roman" panose="02020603050405020304" pitchFamily="18" charset="0"/>
            </a:endParaRPr>
          </a:p>
        </p:txBody>
      </p:sp>
      <p:grpSp>
        <p:nvGrpSpPr>
          <p:cNvPr id="4" name="Google Shape;109;p21">
            <a:extLst>
              <a:ext uri="{FF2B5EF4-FFF2-40B4-BE49-F238E27FC236}">
                <a16:creationId xmlns:a16="http://schemas.microsoft.com/office/drawing/2014/main" id="{DCED87CE-34FA-79D6-153A-54EEA5B4A2AF}"/>
              </a:ext>
            </a:extLst>
          </p:cNvPr>
          <p:cNvGrpSpPr/>
          <p:nvPr/>
        </p:nvGrpSpPr>
        <p:grpSpPr>
          <a:xfrm>
            <a:off x="0" y="6471667"/>
            <a:ext cx="12191999" cy="386333"/>
            <a:chOff x="0" y="6342887"/>
            <a:chExt cx="12191999" cy="515111"/>
          </a:xfrm>
        </p:grpSpPr>
        <p:pic>
          <p:nvPicPr>
            <p:cNvPr id="5" name="Google Shape;110;p21">
              <a:extLst>
                <a:ext uri="{FF2B5EF4-FFF2-40B4-BE49-F238E27FC236}">
                  <a16:creationId xmlns:a16="http://schemas.microsoft.com/office/drawing/2014/main" id="{1E588301-8359-4077-1599-B352B03429E4}"/>
                </a:ext>
              </a:extLst>
            </p:cNvPr>
            <p:cNvPicPr preferRelativeResize="0"/>
            <p:nvPr/>
          </p:nvPicPr>
          <p:blipFill rotWithShape="1">
            <a:blip r:embed="rId2">
              <a:alphaModFix/>
            </a:blip>
            <a:srcRect/>
            <a:stretch/>
          </p:blipFill>
          <p:spPr>
            <a:xfrm>
              <a:off x="126492" y="6490714"/>
              <a:ext cx="1781556" cy="313944"/>
            </a:xfrm>
            <a:prstGeom prst="rect">
              <a:avLst/>
            </a:prstGeom>
            <a:noFill/>
            <a:ln>
              <a:noFill/>
            </a:ln>
          </p:spPr>
        </p:pic>
        <p:pic>
          <p:nvPicPr>
            <p:cNvPr id="6" name="Google Shape;111;p21">
              <a:extLst>
                <a:ext uri="{FF2B5EF4-FFF2-40B4-BE49-F238E27FC236}">
                  <a16:creationId xmlns:a16="http://schemas.microsoft.com/office/drawing/2014/main" id="{72A09505-3F81-F4DF-3A8B-98299F94B9F4}"/>
                </a:ext>
              </a:extLst>
            </p:cNvPr>
            <p:cNvPicPr preferRelativeResize="0"/>
            <p:nvPr/>
          </p:nvPicPr>
          <p:blipFill rotWithShape="1">
            <a:blip r:embed="rId3">
              <a:alphaModFix/>
            </a:blip>
            <a:srcRect/>
            <a:stretch/>
          </p:blipFill>
          <p:spPr>
            <a:xfrm>
              <a:off x="0" y="6342887"/>
              <a:ext cx="12191999" cy="515111"/>
            </a:xfrm>
            <a:prstGeom prst="rect">
              <a:avLst/>
            </a:prstGeom>
            <a:noFill/>
            <a:ln>
              <a:noFill/>
            </a:ln>
          </p:spPr>
        </p:pic>
        <p:pic>
          <p:nvPicPr>
            <p:cNvPr id="7" name="Google Shape;112;p21">
              <a:extLst>
                <a:ext uri="{FF2B5EF4-FFF2-40B4-BE49-F238E27FC236}">
                  <a16:creationId xmlns:a16="http://schemas.microsoft.com/office/drawing/2014/main" id="{3401D893-DD76-CE09-8944-E9CB97193C9E}"/>
                </a:ext>
              </a:extLst>
            </p:cNvPr>
            <p:cNvPicPr preferRelativeResize="0"/>
            <p:nvPr/>
          </p:nvPicPr>
          <p:blipFill rotWithShape="1">
            <a:blip r:embed="rId2">
              <a:alphaModFix/>
            </a:blip>
            <a:srcRect/>
            <a:stretch/>
          </p:blipFill>
          <p:spPr>
            <a:xfrm>
              <a:off x="222503" y="6446518"/>
              <a:ext cx="1781556" cy="313942"/>
            </a:xfrm>
            <a:prstGeom prst="rect">
              <a:avLst/>
            </a:prstGeom>
            <a:noFill/>
            <a:ln>
              <a:noFill/>
            </a:ln>
          </p:spPr>
        </p:pic>
      </p:grpSp>
      <p:graphicFrame>
        <p:nvGraphicFramePr>
          <p:cNvPr id="10" name="Content Placeholder 9">
            <a:extLst>
              <a:ext uri="{FF2B5EF4-FFF2-40B4-BE49-F238E27FC236}">
                <a16:creationId xmlns:a16="http://schemas.microsoft.com/office/drawing/2014/main" id="{3EE3BF67-0A22-1E6F-803B-EB3EB9C1C442}"/>
              </a:ext>
            </a:extLst>
          </p:cNvPr>
          <p:cNvGraphicFramePr>
            <a:graphicFrameLocks noGrp="1"/>
          </p:cNvGraphicFramePr>
          <p:nvPr>
            <p:ph idx="1"/>
            <p:extLst>
              <p:ext uri="{D42A27DB-BD31-4B8C-83A1-F6EECF244321}">
                <p14:modId xmlns:p14="http://schemas.microsoft.com/office/powerpoint/2010/main" val="265845691"/>
              </p:ext>
            </p:extLst>
          </p:nvPr>
        </p:nvGraphicFramePr>
        <p:xfrm>
          <a:off x="721452" y="1158520"/>
          <a:ext cx="10637238" cy="4736568"/>
        </p:xfrm>
        <a:graphic>
          <a:graphicData uri="http://schemas.openxmlformats.org/drawingml/2006/table">
            <a:tbl>
              <a:tblPr firstRow="1" bandRow="1">
                <a:tableStyleId>{5C22544A-7EE6-4342-B048-85BDC9FD1C3A}</a:tableStyleId>
              </a:tblPr>
              <a:tblGrid>
                <a:gridCol w="1772873">
                  <a:extLst>
                    <a:ext uri="{9D8B030D-6E8A-4147-A177-3AD203B41FA5}">
                      <a16:colId xmlns:a16="http://schemas.microsoft.com/office/drawing/2014/main" val="17490406"/>
                    </a:ext>
                  </a:extLst>
                </a:gridCol>
                <a:gridCol w="1772873">
                  <a:extLst>
                    <a:ext uri="{9D8B030D-6E8A-4147-A177-3AD203B41FA5}">
                      <a16:colId xmlns:a16="http://schemas.microsoft.com/office/drawing/2014/main" val="784449428"/>
                    </a:ext>
                  </a:extLst>
                </a:gridCol>
                <a:gridCol w="1772873">
                  <a:extLst>
                    <a:ext uri="{9D8B030D-6E8A-4147-A177-3AD203B41FA5}">
                      <a16:colId xmlns:a16="http://schemas.microsoft.com/office/drawing/2014/main" val="445652893"/>
                    </a:ext>
                  </a:extLst>
                </a:gridCol>
                <a:gridCol w="1772873">
                  <a:extLst>
                    <a:ext uri="{9D8B030D-6E8A-4147-A177-3AD203B41FA5}">
                      <a16:colId xmlns:a16="http://schemas.microsoft.com/office/drawing/2014/main" val="380839486"/>
                    </a:ext>
                  </a:extLst>
                </a:gridCol>
                <a:gridCol w="1772873">
                  <a:extLst>
                    <a:ext uri="{9D8B030D-6E8A-4147-A177-3AD203B41FA5}">
                      <a16:colId xmlns:a16="http://schemas.microsoft.com/office/drawing/2014/main" val="1106940288"/>
                    </a:ext>
                  </a:extLst>
                </a:gridCol>
                <a:gridCol w="1772873">
                  <a:extLst>
                    <a:ext uri="{9D8B030D-6E8A-4147-A177-3AD203B41FA5}">
                      <a16:colId xmlns:a16="http://schemas.microsoft.com/office/drawing/2014/main" val="3132555569"/>
                    </a:ext>
                  </a:extLst>
                </a:gridCol>
              </a:tblGrid>
              <a:tr h="407006">
                <a:tc>
                  <a:txBody>
                    <a:bodyPr/>
                    <a:lstStyle/>
                    <a:p>
                      <a:pPr algn="ctr">
                        <a:buNone/>
                      </a:pPr>
                      <a:r>
                        <a:rPr lang="en-IN" sz="1200" dirty="0" err="1"/>
                        <a:t>S.No</a:t>
                      </a:r>
                      <a:endParaRPr lang="en-IN" sz="1200" dirty="0"/>
                    </a:p>
                  </a:txBody>
                  <a:tcPr anchor="ctr"/>
                </a:tc>
                <a:tc>
                  <a:txBody>
                    <a:bodyPr/>
                    <a:lstStyle/>
                    <a:p>
                      <a:pPr algn="ctr">
                        <a:buNone/>
                      </a:pPr>
                      <a:r>
                        <a:rPr lang="en-IN" sz="1200" dirty="0"/>
                        <a:t>Paper Title</a:t>
                      </a:r>
                    </a:p>
                  </a:txBody>
                  <a:tcPr anchor="ctr"/>
                </a:tc>
                <a:tc>
                  <a:txBody>
                    <a:bodyPr/>
                    <a:lstStyle/>
                    <a:p>
                      <a:pPr algn="ctr">
                        <a:buNone/>
                      </a:pPr>
                      <a:r>
                        <a:rPr lang="en-IN" sz="1200" dirty="0"/>
                        <a:t>Authors</a:t>
                      </a:r>
                    </a:p>
                  </a:txBody>
                  <a:tcPr anchor="ctr"/>
                </a:tc>
                <a:tc>
                  <a:txBody>
                    <a:bodyPr/>
                    <a:lstStyle/>
                    <a:p>
                      <a:pPr algn="ctr">
                        <a:buNone/>
                      </a:pPr>
                      <a:r>
                        <a:rPr lang="en-IN" sz="1200" dirty="0"/>
                        <a:t>Dataset</a:t>
                      </a:r>
                    </a:p>
                  </a:txBody>
                  <a:tcPr anchor="ctr"/>
                </a:tc>
                <a:tc>
                  <a:txBody>
                    <a:bodyPr/>
                    <a:lstStyle/>
                    <a:p>
                      <a:pPr algn="ctr">
                        <a:buNone/>
                      </a:pPr>
                      <a:r>
                        <a:rPr lang="en-IN" sz="1200" dirty="0"/>
                        <a:t>Algorithms Used</a:t>
                      </a:r>
                    </a:p>
                  </a:txBody>
                  <a:tcPr anchor="ctr"/>
                </a:tc>
                <a:tc>
                  <a:txBody>
                    <a:bodyPr/>
                    <a:lstStyle/>
                    <a:p>
                      <a:pPr algn="ctr">
                        <a:buNone/>
                      </a:pPr>
                      <a:r>
                        <a:rPr lang="en-IN" sz="1200" dirty="0"/>
                        <a:t>Limitations</a:t>
                      </a:r>
                    </a:p>
                  </a:txBody>
                  <a:tcPr anchor="ctr"/>
                </a:tc>
                <a:extLst>
                  <a:ext uri="{0D108BD9-81ED-4DB2-BD59-A6C34878D82A}">
                    <a16:rowId xmlns:a16="http://schemas.microsoft.com/office/drawing/2014/main" val="957024815"/>
                  </a:ext>
                </a:extLst>
              </a:tr>
              <a:tr h="1236397">
                <a:tc>
                  <a:txBody>
                    <a:bodyPr/>
                    <a:lstStyle/>
                    <a:p>
                      <a:pPr algn="ctr">
                        <a:buNone/>
                      </a:pPr>
                      <a:r>
                        <a:rPr lang="en-IN" sz="1200" dirty="0"/>
                        <a:t>1</a:t>
                      </a:r>
                    </a:p>
                  </a:txBody>
                  <a:tcPr anchor="ctr"/>
                </a:tc>
                <a:tc>
                  <a:txBody>
                    <a:bodyPr/>
                    <a:lstStyle/>
                    <a:p>
                      <a:pPr algn="l">
                        <a:buNone/>
                      </a:pPr>
                      <a:r>
                        <a:rPr lang="en-US" sz="1200" dirty="0"/>
                        <a:t>Feature Extraction for Machine Learning-Based Intrusion Detection in IoT Networks</a:t>
                      </a:r>
                    </a:p>
                  </a:txBody>
                  <a:tcPr anchor="ctr"/>
                </a:tc>
                <a:tc>
                  <a:txBody>
                    <a:bodyPr/>
                    <a:lstStyle/>
                    <a:p>
                      <a:pPr algn="l">
                        <a:buNone/>
                      </a:pPr>
                      <a:r>
                        <a:rPr lang="en-IN" sz="1200" dirty="0"/>
                        <a:t>Mohanad Sarhan et al.</a:t>
                      </a:r>
                    </a:p>
                  </a:txBody>
                  <a:tcPr anchor="ctr"/>
                </a:tc>
                <a:tc>
                  <a:txBody>
                    <a:bodyPr/>
                    <a:lstStyle/>
                    <a:p>
                      <a:pPr>
                        <a:buNone/>
                      </a:pPr>
                      <a:r>
                        <a:rPr lang="en-IN" sz="1200" dirty="0"/>
                        <a:t>UNSW-NB15, </a:t>
                      </a:r>
                      <a:r>
                        <a:rPr lang="en-IN" sz="1200" dirty="0" err="1"/>
                        <a:t>ToN</a:t>
                      </a:r>
                      <a:r>
                        <a:rPr lang="en-IN" sz="1200" dirty="0"/>
                        <a:t>-IoT, CSE-CIC-IDS2018</a:t>
                      </a:r>
                    </a:p>
                  </a:txBody>
                  <a:tcPr anchor="ctr"/>
                </a:tc>
                <a:tc>
                  <a:txBody>
                    <a:bodyPr/>
                    <a:lstStyle/>
                    <a:p>
                      <a:pPr>
                        <a:buNone/>
                      </a:pPr>
                      <a:r>
                        <a:rPr lang="en-IN" sz="1200"/>
                        <a:t>CNN, RNN, DFF, Decision Tree, Logistic Regression, Naïve Bayes + PCA, LDA, Autoencoder</a:t>
                      </a:r>
                    </a:p>
                  </a:txBody>
                  <a:tcPr anchor="ctr"/>
                </a:tc>
                <a:tc>
                  <a:txBody>
                    <a:bodyPr/>
                    <a:lstStyle/>
                    <a:p>
                      <a:pPr>
                        <a:buNone/>
                      </a:pPr>
                      <a:r>
                        <a:rPr lang="en-US" sz="1200" dirty="0"/>
                        <a:t>No single model works best for all datasets; performance depends on dataset; high false alarm rate; limited generalization</a:t>
                      </a:r>
                    </a:p>
                  </a:txBody>
                  <a:tcPr anchor="ctr"/>
                </a:tc>
                <a:extLst>
                  <a:ext uri="{0D108BD9-81ED-4DB2-BD59-A6C34878D82A}">
                    <a16:rowId xmlns:a16="http://schemas.microsoft.com/office/drawing/2014/main" val="2575221146"/>
                  </a:ext>
                </a:extLst>
              </a:tr>
              <a:tr h="877991">
                <a:tc>
                  <a:txBody>
                    <a:bodyPr/>
                    <a:lstStyle/>
                    <a:p>
                      <a:pPr algn="ctr">
                        <a:buNone/>
                      </a:pPr>
                      <a:r>
                        <a:rPr lang="en-IN" sz="1200" dirty="0"/>
                        <a:t>2</a:t>
                      </a:r>
                    </a:p>
                  </a:txBody>
                  <a:tcPr anchor="ctr"/>
                </a:tc>
                <a:tc>
                  <a:txBody>
                    <a:bodyPr/>
                    <a:lstStyle/>
                    <a:p>
                      <a:pPr algn="l">
                        <a:buNone/>
                      </a:pPr>
                      <a:r>
                        <a:rPr lang="en-US" sz="1200" dirty="0"/>
                        <a:t>UNSW-NB15: A Comprehensive Dataset for Network Intrusion Detection Systems</a:t>
                      </a:r>
                    </a:p>
                  </a:txBody>
                  <a:tcPr anchor="ctr"/>
                </a:tc>
                <a:tc>
                  <a:txBody>
                    <a:bodyPr/>
                    <a:lstStyle/>
                    <a:p>
                      <a:pPr>
                        <a:buNone/>
                      </a:pPr>
                      <a:r>
                        <a:rPr lang="en-IN" sz="1200" dirty="0"/>
                        <a:t>Nour Moustafa, Jill Slay</a:t>
                      </a:r>
                    </a:p>
                  </a:txBody>
                  <a:tcPr anchor="ctr"/>
                </a:tc>
                <a:tc>
                  <a:txBody>
                    <a:bodyPr/>
                    <a:lstStyle/>
                    <a:p>
                      <a:pPr>
                        <a:buNone/>
                      </a:pPr>
                      <a:r>
                        <a:rPr lang="en-IN" sz="1200" dirty="0"/>
                        <a:t>UNSW-NB15</a:t>
                      </a:r>
                    </a:p>
                  </a:txBody>
                  <a:tcPr anchor="ctr"/>
                </a:tc>
                <a:tc>
                  <a:txBody>
                    <a:bodyPr/>
                    <a:lstStyle/>
                    <a:p>
                      <a:pPr>
                        <a:buNone/>
                      </a:pPr>
                      <a:r>
                        <a:rPr lang="en-US" sz="1200" dirty="0"/>
                        <a:t>Dataset creation using Argus, Bro-IDS, IXIA tools</a:t>
                      </a:r>
                    </a:p>
                  </a:txBody>
                  <a:tcPr anchor="ctr"/>
                </a:tc>
                <a:tc>
                  <a:txBody>
                    <a:bodyPr/>
                    <a:lstStyle/>
                    <a:p>
                      <a:pPr>
                        <a:buNone/>
                      </a:pPr>
                      <a:r>
                        <a:rPr lang="en-US" sz="1200" dirty="0"/>
                        <a:t>Synthetic dataset; class imbalance; requires preprocessing; no detection model</a:t>
                      </a:r>
                    </a:p>
                  </a:txBody>
                  <a:tcPr anchor="ctr"/>
                </a:tc>
                <a:extLst>
                  <a:ext uri="{0D108BD9-81ED-4DB2-BD59-A6C34878D82A}">
                    <a16:rowId xmlns:a16="http://schemas.microsoft.com/office/drawing/2014/main" val="3618769258"/>
                  </a:ext>
                </a:extLst>
              </a:tr>
              <a:tr h="981861">
                <a:tc>
                  <a:txBody>
                    <a:bodyPr/>
                    <a:lstStyle/>
                    <a:p>
                      <a:pPr algn="ctr">
                        <a:buNone/>
                      </a:pPr>
                      <a:r>
                        <a:rPr lang="en-IN" sz="1200" dirty="0"/>
                        <a:t>3</a:t>
                      </a:r>
                    </a:p>
                  </a:txBody>
                  <a:tcPr anchor="ctr"/>
                </a:tc>
                <a:tc>
                  <a:txBody>
                    <a:bodyPr/>
                    <a:lstStyle/>
                    <a:p>
                      <a:pPr algn="l">
                        <a:buNone/>
                      </a:pPr>
                      <a:r>
                        <a:rPr lang="en-US" sz="1200" dirty="0"/>
                        <a:t>Enhanced Intrusion Detection Systems Performance with UNSW-NB15 Data Analysis</a:t>
                      </a:r>
                    </a:p>
                  </a:txBody>
                  <a:tcPr anchor="ctr"/>
                </a:tc>
                <a:tc>
                  <a:txBody>
                    <a:bodyPr/>
                    <a:lstStyle/>
                    <a:p>
                      <a:pPr>
                        <a:buNone/>
                      </a:pPr>
                      <a:r>
                        <a:rPr lang="en-IN" sz="1200" dirty="0"/>
                        <a:t>Shweta More et al.</a:t>
                      </a:r>
                    </a:p>
                  </a:txBody>
                  <a:tcPr anchor="ctr"/>
                </a:tc>
                <a:tc>
                  <a:txBody>
                    <a:bodyPr/>
                    <a:lstStyle/>
                    <a:p>
                      <a:pPr>
                        <a:buNone/>
                      </a:pPr>
                      <a:r>
                        <a:rPr lang="en-IN" sz="1200" dirty="0"/>
                        <a:t>UNSW-NB15</a:t>
                      </a:r>
                    </a:p>
                  </a:txBody>
                  <a:tcPr anchor="ctr"/>
                </a:tc>
                <a:tc>
                  <a:txBody>
                    <a:bodyPr/>
                    <a:lstStyle/>
                    <a:p>
                      <a:pPr>
                        <a:buNone/>
                      </a:pPr>
                      <a:r>
                        <a:rPr lang="en-IN" sz="1200" dirty="0"/>
                        <a:t>Logistic Regression, SVM, Decision Tree, Random Forest</a:t>
                      </a:r>
                    </a:p>
                  </a:txBody>
                  <a:tcPr anchor="ctr"/>
                </a:tc>
                <a:tc>
                  <a:txBody>
                    <a:bodyPr/>
                    <a:lstStyle/>
                    <a:p>
                      <a:pPr>
                        <a:buNone/>
                      </a:pPr>
                      <a:r>
                        <a:rPr lang="en-US" sz="1200" dirty="0"/>
                        <a:t>Limited models; no deep learning; affected by imbalance; no real-time validation</a:t>
                      </a:r>
                    </a:p>
                  </a:txBody>
                  <a:tcPr anchor="ctr"/>
                </a:tc>
                <a:extLst>
                  <a:ext uri="{0D108BD9-81ED-4DB2-BD59-A6C34878D82A}">
                    <a16:rowId xmlns:a16="http://schemas.microsoft.com/office/drawing/2014/main" val="1922113957"/>
                  </a:ext>
                </a:extLst>
              </a:tr>
              <a:tr h="1233313">
                <a:tc>
                  <a:txBody>
                    <a:bodyPr/>
                    <a:lstStyle/>
                    <a:p>
                      <a:pPr algn="ctr">
                        <a:buNone/>
                      </a:pPr>
                      <a:r>
                        <a:rPr lang="en-IN" sz="1200" dirty="0"/>
                        <a:t>4</a:t>
                      </a:r>
                    </a:p>
                  </a:txBody>
                  <a:tcPr anchor="ctr"/>
                </a:tc>
                <a:tc>
                  <a:txBody>
                    <a:bodyPr/>
                    <a:lstStyle/>
                    <a:p>
                      <a:pPr algn="l">
                        <a:buNone/>
                      </a:pPr>
                      <a:r>
                        <a:rPr lang="en-US" sz="1200" dirty="0"/>
                        <a:t>Building an Intrusion Detection System on UNSW-NB15: Reducing Margin of Error due to Overlap &amp; Imbalance</a:t>
                      </a:r>
                    </a:p>
                  </a:txBody>
                  <a:tcPr anchor="ctr"/>
                </a:tc>
                <a:tc>
                  <a:txBody>
                    <a:bodyPr/>
                    <a:lstStyle/>
                    <a:p>
                      <a:pPr>
                        <a:buNone/>
                      </a:pPr>
                      <a:r>
                        <a:rPr lang="en-IN" sz="1200" dirty="0"/>
                        <a:t>Zeinab </a:t>
                      </a:r>
                      <a:r>
                        <a:rPr lang="en-IN" sz="1200" dirty="0" err="1"/>
                        <a:t>Zoghi</a:t>
                      </a:r>
                      <a:r>
                        <a:rPr lang="en-IN" sz="1200" dirty="0"/>
                        <a:t>, </a:t>
                      </a:r>
                      <a:r>
                        <a:rPr lang="en-IN" sz="1200" dirty="0" err="1"/>
                        <a:t>Gursel</a:t>
                      </a:r>
                      <a:r>
                        <a:rPr lang="en-IN" sz="1200" dirty="0"/>
                        <a:t> </a:t>
                      </a:r>
                      <a:r>
                        <a:rPr lang="en-IN" sz="1200" dirty="0" err="1"/>
                        <a:t>Serpen</a:t>
                      </a:r>
                      <a:endParaRPr lang="en-IN" sz="1200" dirty="0"/>
                    </a:p>
                  </a:txBody>
                  <a:tcPr anchor="ctr"/>
                </a:tc>
                <a:tc>
                  <a:txBody>
                    <a:bodyPr/>
                    <a:lstStyle/>
                    <a:p>
                      <a:pPr>
                        <a:buNone/>
                      </a:pPr>
                      <a:r>
                        <a:rPr lang="en-IN" sz="1200" dirty="0"/>
                        <a:t>UNSW-NB15</a:t>
                      </a:r>
                    </a:p>
                  </a:txBody>
                  <a:tcPr anchor="ctr"/>
                </a:tc>
                <a:tc>
                  <a:txBody>
                    <a:bodyPr/>
                    <a:lstStyle/>
                    <a:p>
                      <a:pPr>
                        <a:buNone/>
                      </a:pPr>
                      <a:r>
                        <a:rPr lang="en-US" sz="1200" dirty="0"/>
                        <a:t>Balanced Bagging, </a:t>
                      </a:r>
                      <a:r>
                        <a:rPr lang="en-US" sz="1200" dirty="0" err="1"/>
                        <a:t>XGBoost</a:t>
                      </a:r>
                      <a:r>
                        <a:rPr lang="en-US" sz="1200" dirty="0"/>
                        <a:t>, Random Forest + Threshold Adjustment</a:t>
                      </a:r>
                    </a:p>
                  </a:txBody>
                  <a:tcPr anchor="ctr"/>
                </a:tc>
                <a:tc>
                  <a:txBody>
                    <a:bodyPr/>
                    <a:lstStyle/>
                    <a:p>
                      <a:pPr>
                        <a:buNone/>
                      </a:pPr>
                      <a:r>
                        <a:rPr lang="en-US" sz="1200" dirty="0"/>
                        <a:t>Complex model; high computational cost; difficult real-time deployment; needs tuning</a:t>
                      </a:r>
                    </a:p>
                  </a:txBody>
                  <a:tcPr anchor="ctr"/>
                </a:tc>
                <a:extLst>
                  <a:ext uri="{0D108BD9-81ED-4DB2-BD59-A6C34878D82A}">
                    <a16:rowId xmlns:a16="http://schemas.microsoft.com/office/drawing/2014/main" val="3518751653"/>
                  </a:ext>
                </a:extLst>
              </a:tr>
            </a:tbl>
          </a:graphicData>
        </a:graphic>
      </p:graphicFrame>
    </p:spTree>
    <p:extLst>
      <p:ext uri="{BB962C8B-B14F-4D97-AF65-F5344CB8AC3E}">
        <p14:creationId xmlns:p14="http://schemas.microsoft.com/office/powerpoint/2010/main" val="4012279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C422D8-0AAE-192B-D887-86E172AC4528}"/>
              </a:ext>
            </a:extLst>
          </p:cNvPr>
          <p:cNvSpPr txBox="1"/>
          <p:nvPr/>
        </p:nvSpPr>
        <p:spPr>
          <a:xfrm>
            <a:off x="814932" y="611060"/>
            <a:ext cx="8588230" cy="1572546"/>
          </a:xfrm>
          <a:prstGeom prst="rect">
            <a:avLst/>
          </a:prstGeom>
          <a:noFill/>
        </p:spPr>
        <p:txBody>
          <a:bodyPr wrap="square">
            <a:spAutoFit/>
          </a:bodyPr>
          <a:lstStyle/>
          <a:p>
            <a:pPr marL="342900" indent="-342900">
              <a:lnSpc>
                <a:spcPct val="115000"/>
              </a:lnSpc>
              <a:spcAft>
                <a:spcPts val="1000"/>
              </a:spcAft>
              <a:buFont typeface="Wingdings" panose="05000000000000000000" pitchFamily="2" charset="2"/>
              <a:buChar char="q"/>
            </a:pPr>
            <a:r>
              <a:rPr lang="en-IN" sz="3800" b="1"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rPr>
              <a:t>Literature Survey</a:t>
            </a:r>
            <a:endParaRPr lang="en-IN" sz="3800"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endParaRPr>
          </a:p>
          <a:p>
            <a:pPr algn="ctr">
              <a:lnSpc>
                <a:spcPct val="115000"/>
              </a:lnSpc>
              <a:spcAft>
                <a:spcPts val="1000"/>
              </a:spcAft>
              <a:buNone/>
            </a:pPr>
            <a:br>
              <a:rPr lang="en-IN" sz="2000" dirty="0">
                <a:effectLst/>
                <a:latin typeface="Times New Roman" panose="02020603050405020304" pitchFamily="18" charset="0"/>
                <a:ea typeface="MS Mincho" panose="02020609040205080304" pitchFamily="49" charset="-128"/>
                <a:cs typeface="Times New Roman" panose="02020603050405020304" pitchFamily="18" charset="0"/>
              </a:rPr>
            </a:b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grpSp>
        <p:nvGrpSpPr>
          <p:cNvPr id="2" name="Google Shape;109;p21">
            <a:extLst>
              <a:ext uri="{FF2B5EF4-FFF2-40B4-BE49-F238E27FC236}">
                <a16:creationId xmlns:a16="http://schemas.microsoft.com/office/drawing/2014/main" id="{2E570B52-072C-2A2C-A65C-3FD4E71A9ADF}"/>
              </a:ext>
            </a:extLst>
          </p:cNvPr>
          <p:cNvGrpSpPr/>
          <p:nvPr/>
        </p:nvGrpSpPr>
        <p:grpSpPr>
          <a:xfrm>
            <a:off x="0" y="6471667"/>
            <a:ext cx="12191999" cy="386333"/>
            <a:chOff x="0" y="6342887"/>
            <a:chExt cx="12191999" cy="515111"/>
          </a:xfrm>
        </p:grpSpPr>
        <p:pic>
          <p:nvPicPr>
            <p:cNvPr id="4" name="Google Shape;110;p21">
              <a:extLst>
                <a:ext uri="{FF2B5EF4-FFF2-40B4-BE49-F238E27FC236}">
                  <a16:creationId xmlns:a16="http://schemas.microsoft.com/office/drawing/2014/main" id="{B7CBF616-22A7-4EB0-4F8D-BC391C88D9CA}"/>
                </a:ext>
              </a:extLst>
            </p:cNvPr>
            <p:cNvPicPr preferRelativeResize="0"/>
            <p:nvPr/>
          </p:nvPicPr>
          <p:blipFill rotWithShape="1">
            <a:blip r:embed="rId2">
              <a:alphaModFix/>
            </a:blip>
            <a:srcRect/>
            <a:stretch/>
          </p:blipFill>
          <p:spPr>
            <a:xfrm>
              <a:off x="126492" y="6490714"/>
              <a:ext cx="1781556" cy="313944"/>
            </a:xfrm>
            <a:prstGeom prst="rect">
              <a:avLst/>
            </a:prstGeom>
            <a:noFill/>
            <a:ln>
              <a:noFill/>
            </a:ln>
          </p:spPr>
        </p:pic>
        <p:pic>
          <p:nvPicPr>
            <p:cNvPr id="5" name="Google Shape;111;p21">
              <a:extLst>
                <a:ext uri="{FF2B5EF4-FFF2-40B4-BE49-F238E27FC236}">
                  <a16:creationId xmlns:a16="http://schemas.microsoft.com/office/drawing/2014/main" id="{2754A108-8190-4347-CDA3-8C9FA618A3FC}"/>
                </a:ext>
              </a:extLst>
            </p:cNvPr>
            <p:cNvPicPr preferRelativeResize="0"/>
            <p:nvPr/>
          </p:nvPicPr>
          <p:blipFill rotWithShape="1">
            <a:blip r:embed="rId3">
              <a:alphaModFix/>
            </a:blip>
            <a:srcRect/>
            <a:stretch/>
          </p:blipFill>
          <p:spPr>
            <a:xfrm>
              <a:off x="0" y="6342887"/>
              <a:ext cx="12191999" cy="515111"/>
            </a:xfrm>
            <a:prstGeom prst="rect">
              <a:avLst/>
            </a:prstGeom>
            <a:noFill/>
            <a:ln>
              <a:noFill/>
            </a:ln>
          </p:spPr>
        </p:pic>
        <p:pic>
          <p:nvPicPr>
            <p:cNvPr id="6" name="Google Shape;112;p21">
              <a:extLst>
                <a:ext uri="{FF2B5EF4-FFF2-40B4-BE49-F238E27FC236}">
                  <a16:creationId xmlns:a16="http://schemas.microsoft.com/office/drawing/2014/main" id="{EAC1F55D-7EA4-C23E-F711-98322756A4FD}"/>
                </a:ext>
              </a:extLst>
            </p:cNvPr>
            <p:cNvPicPr preferRelativeResize="0"/>
            <p:nvPr/>
          </p:nvPicPr>
          <p:blipFill rotWithShape="1">
            <a:blip r:embed="rId2">
              <a:alphaModFix/>
            </a:blip>
            <a:srcRect/>
            <a:stretch/>
          </p:blipFill>
          <p:spPr>
            <a:xfrm>
              <a:off x="222503" y="6446518"/>
              <a:ext cx="1781556" cy="313942"/>
            </a:xfrm>
            <a:prstGeom prst="rect">
              <a:avLst/>
            </a:prstGeom>
            <a:noFill/>
            <a:ln>
              <a:noFill/>
            </a:ln>
          </p:spPr>
        </p:pic>
      </p:grpSp>
      <p:sp>
        <p:nvSpPr>
          <p:cNvPr id="7" name="TextBox 6">
            <a:extLst>
              <a:ext uri="{FF2B5EF4-FFF2-40B4-BE49-F238E27FC236}">
                <a16:creationId xmlns:a16="http://schemas.microsoft.com/office/drawing/2014/main" id="{ED523EDF-9063-8628-441E-A93582F4B451}"/>
              </a:ext>
            </a:extLst>
          </p:cNvPr>
          <p:cNvSpPr txBox="1"/>
          <p:nvPr/>
        </p:nvSpPr>
        <p:spPr>
          <a:xfrm>
            <a:off x="894737" y="1441484"/>
            <a:ext cx="9646526" cy="3970318"/>
          </a:xfrm>
          <a:prstGeom prst="rect">
            <a:avLst/>
          </a:prstGeom>
          <a:noFill/>
        </p:spPr>
        <p:txBody>
          <a:bodyPr wrap="square" rtlCol="0">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Key Findings in Previous Research</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Machine learning models such as Logistic Regression, SVM, Decision Tree, and Random Forest have been widely used for intrusion detection on the UNSW-NB15 dataset.</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Random Forest and ensemble methods often achieve higher accuracy in detecting cyber-attacks.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Feature selection and preprocessing significantly improve model performance.</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Recent studies also explore deep learning models for detecting complex network attack patterns.</a:t>
            </a:r>
          </a:p>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Limitations in Existing Work</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Many studies rely on simple train–test splits instead of robust validation methods.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Class imbalance in the dataset is not always properly handled.</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Most research compares only a limited number of models.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Feature engineering is limited, which may reduce detection performance.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1900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5E2A30-DCAE-8A48-9BF9-B59BDF6770A9}"/>
              </a:ext>
            </a:extLst>
          </p:cNvPr>
          <p:cNvSpPr txBox="1"/>
          <p:nvPr/>
        </p:nvSpPr>
        <p:spPr>
          <a:xfrm>
            <a:off x="573159" y="696286"/>
            <a:ext cx="10852610" cy="2216504"/>
          </a:xfrm>
          <a:prstGeom prst="rect">
            <a:avLst/>
          </a:prstGeom>
          <a:noFill/>
        </p:spPr>
        <p:txBody>
          <a:bodyPr wrap="square">
            <a:spAutoFit/>
          </a:bodyPr>
          <a:lstStyle/>
          <a:p>
            <a:pPr marL="571500" indent="-571500">
              <a:lnSpc>
                <a:spcPct val="115000"/>
              </a:lnSpc>
              <a:spcAft>
                <a:spcPts val="1000"/>
              </a:spcAft>
              <a:buFont typeface="Wingdings" panose="05000000000000000000" pitchFamily="2" charset="2"/>
              <a:buChar char="q"/>
            </a:pPr>
            <a:r>
              <a:rPr lang="en-IN" sz="3800" b="1" dirty="0">
                <a:solidFill>
                  <a:srgbClr val="0070C0"/>
                </a:solidFill>
                <a:latin typeface="Times New Roman" panose="02020603050405020304" pitchFamily="18" charset="0"/>
                <a:ea typeface="MS Mincho" panose="02020609040205080304" pitchFamily="49" charset="-128"/>
                <a:cs typeface="Times New Roman" panose="02020603050405020304" pitchFamily="18" charset="0"/>
              </a:rPr>
              <a:t>Base Paper –</a:t>
            </a:r>
            <a:r>
              <a:rPr lang="en-IN" sz="4000" dirty="0"/>
              <a:t>Enhanced IDS using UNSW-NB15</a:t>
            </a:r>
            <a:r>
              <a:rPr lang="en-IN" sz="3800" i="1" dirty="0">
                <a:solidFill>
                  <a:schemeClr val="accent1"/>
                </a:solidFill>
                <a:latin typeface="Times New Roman" panose="02020603050405020304" pitchFamily="18" charset="0"/>
                <a:cs typeface="Times New Roman" panose="02020603050405020304" pitchFamily="18" charset="0"/>
              </a:rPr>
              <a:t>.</a:t>
            </a:r>
            <a:br>
              <a:rPr lang="en-IN" sz="4000" i="1" dirty="0">
                <a:latin typeface="Times New Roman" panose="02020603050405020304" pitchFamily="18" charset="0"/>
                <a:cs typeface="Times New Roman" panose="02020603050405020304" pitchFamily="18" charset="0"/>
              </a:rPr>
            </a:br>
            <a:r>
              <a:rPr lang="en-IN" sz="3800" b="1" dirty="0">
                <a:solidFill>
                  <a:srgbClr val="0070C0"/>
                </a:solidFill>
                <a:latin typeface="Times New Roman" panose="02020603050405020304" pitchFamily="18" charset="0"/>
                <a:ea typeface="MS Mincho" panose="02020609040205080304" pitchFamily="49" charset="-128"/>
                <a:cs typeface="Times New Roman" panose="02020603050405020304" pitchFamily="18" charset="0"/>
              </a:rPr>
              <a:t> </a:t>
            </a:r>
          </a:p>
          <a:p>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grpSp>
        <p:nvGrpSpPr>
          <p:cNvPr id="2" name="Google Shape;109;p21">
            <a:extLst>
              <a:ext uri="{FF2B5EF4-FFF2-40B4-BE49-F238E27FC236}">
                <a16:creationId xmlns:a16="http://schemas.microsoft.com/office/drawing/2014/main" id="{6479CD6D-3B0F-EF70-634E-3FCDEA8FDCA9}"/>
              </a:ext>
            </a:extLst>
          </p:cNvPr>
          <p:cNvGrpSpPr/>
          <p:nvPr/>
        </p:nvGrpSpPr>
        <p:grpSpPr>
          <a:xfrm>
            <a:off x="0" y="6471667"/>
            <a:ext cx="12191999" cy="386333"/>
            <a:chOff x="0" y="6342887"/>
            <a:chExt cx="12191999" cy="515111"/>
          </a:xfrm>
        </p:grpSpPr>
        <p:pic>
          <p:nvPicPr>
            <p:cNvPr id="4" name="Google Shape;110;p21">
              <a:extLst>
                <a:ext uri="{FF2B5EF4-FFF2-40B4-BE49-F238E27FC236}">
                  <a16:creationId xmlns:a16="http://schemas.microsoft.com/office/drawing/2014/main" id="{7AE5AFAF-E539-284A-81D3-0E4E539FDC9F}"/>
                </a:ext>
              </a:extLst>
            </p:cNvPr>
            <p:cNvPicPr preferRelativeResize="0"/>
            <p:nvPr/>
          </p:nvPicPr>
          <p:blipFill rotWithShape="1">
            <a:blip r:embed="rId2">
              <a:alphaModFix/>
            </a:blip>
            <a:srcRect/>
            <a:stretch/>
          </p:blipFill>
          <p:spPr>
            <a:xfrm>
              <a:off x="126492" y="6490714"/>
              <a:ext cx="1781556" cy="313944"/>
            </a:xfrm>
            <a:prstGeom prst="rect">
              <a:avLst/>
            </a:prstGeom>
            <a:noFill/>
            <a:ln>
              <a:noFill/>
            </a:ln>
          </p:spPr>
        </p:pic>
        <p:pic>
          <p:nvPicPr>
            <p:cNvPr id="5" name="Google Shape;111;p21">
              <a:extLst>
                <a:ext uri="{FF2B5EF4-FFF2-40B4-BE49-F238E27FC236}">
                  <a16:creationId xmlns:a16="http://schemas.microsoft.com/office/drawing/2014/main" id="{D4C19957-B2A1-7F7F-DB71-6294C66481C4}"/>
                </a:ext>
              </a:extLst>
            </p:cNvPr>
            <p:cNvPicPr preferRelativeResize="0"/>
            <p:nvPr/>
          </p:nvPicPr>
          <p:blipFill rotWithShape="1">
            <a:blip r:embed="rId3">
              <a:alphaModFix/>
            </a:blip>
            <a:srcRect/>
            <a:stretch/>
          </p:blipFill>
          <p:spPr>
            <a:xfrm>
              <a:off x="0" y="6342887"/>
              <a:ext cx="12191999" cy="515111"/>
            </a:xfrm>
            <a:prstGeom prst="rect">
              <a:avLst/>
            </a:prstGeom>
            <a:noFill/>
            <a:ln>
              <a:noFill/>
            </a:ln>
          </p:spPr>
        </p:pic>
        <p:pic>
          <p:nvPicPr>
            <p:cNvPr id="6" name="Google Shape;112;p21">
              <a:extLst>
                <a:ext uri="{FF2B5EF4-FFF2-40B4-BE49-F238E27FC236}">
                  <a16:creationId xmlns:a16="http://schemas.microsoft.com/office/drawing/2014/main" id="{3AE42BF8-0D8D-517C-ADA6-E7E9EA09DA5F}"/>
                </a:ext>
              </a:extLst>
            </p:cNvPr>
            <p:cNvPicPr preferRelativeResize="0"/>
            <p:nvPr/>
          </p:nvPicPr>
          <p:blipFill rotWithShape="1">
            <a:blip r:embed="rId2">
              <a:alphaModFix/>
            </a:blip>
            <a:srcRect/>
            <a:stretch/>
          </p:blipFill>
          <p:spPr>
            <a:xfrm>
              <a:off x="222503" y="6446518"/>
              <a:ext cx="1781556" cy="313942"/>
            </a:xfrm>
            <a:prstGeom prst="rect">
              <a:avLst/>
            </a:prstGeom>
            <a:noFill/>
            <a:ln>
              <a:noFill/>
            </a:ln>
          </p:spPr>
        </p:pic>
      </p:grpSp>
      <p:sp>
        <p:nvSpPr>
          <p:cNvPr id="10" name="TextBox 9">
            <a:extLst>
              <a:ext uri="{FF2B5EF4-FFF2-40B4-BE49-F238E27FC236}">
                <a16:creationId xmlns:a16="http://schemas.microsoft.com/office/drawing/2014/main" id="{3BDF7E7A-03B4-4159-C05F-C828E4B93CF9}"/>
              </a:ext>
            </a:extLst>
          </p:cNvPr>
          <p:cNvSpPr txBox="1"/>
          <p:nvPr/>
        </p:nvSpPr>
        <p:spPr>
          <a:xfrm>
            <a:off x="766231" y="1711385"/>
            <a:ext cx="5819874" cy="2308324"/>
          </a:xfrm>
          <a:prstGeom prst="rect">
            <a:avLst/>
          </a:prstGeom>
          <a:noFill/>
        </p:spPr>
        <p:txBody>
          <a:bodyPr wrap="square">
            <a:spAutoFit/>
          </a:bodyPr>
          <a:lstStyle/>
          <a:p>
            <a:pPr marL="285750" indent="-28575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Study Overview</a:t>
            </a:r>
          </a:p>
          <a:p>
            <a:pPr marL="285750" indent="-285750">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Used UNSW-NB15 dataset</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Applied supervised ML algorithms</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Performed data preprocessing &amp; EDA</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Implemented LR, SVM, DT, RF models</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Evaluated using Accuracy, Precision, Recall, F1</a:t>
            </a:r>
          </a:p>
          <a:p>
            <a:pPr marL="7429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9E8E258-D609-8DE4-9EF1-ECC08B8CFEA5}"/>
              </a:ext>
            </a:extLst>
          </p:cNvPr>
          <p:cNvSpPr txBox="1"/>
          <p:nvPr/>
        </p:nvSpPr>
        <p:spPr>
          <a:xfrm>
            <a:off x="3272667" y="3429000"/>
            <a:ext cx="5464628" cy="2893100"/>
          </a:xfrm>
          <a:prstGeom prst="rect">
            <a:avLst/>
          </a:prstGeom>
          <a:noFill/>
        </p:spPr>
        <p:txBody>
          <a:bodyPr wrap="square">
            <a:spAutoFit/>
          </a:bodyPr>
          <a:lstStyle/>
          <a:p>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Our Adaptation</a:t>
            </a:r>
          </a:p>
          <a:p>
            <a:pPr marL="285750" indent="-285750">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Implemented 5 ML models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Applied data cleaning &amp; feature engineering</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Compared models using standard metrics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Performed detailed performance analysis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Identified Decision Tree as best model</a:t>
            </a:r>
          </a:p>
          <a:p>
            <a:pPr marL="7429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11" name="Rectangle 3">
            <a:extLst>
              <a:ext uri="{FF2B5EF4-FFF2-40B4-BE49-F238E27FC236}">
                <a16:creationId xmlns:a16="http://schemas.microsoft.com/office/drawing/2014/main" id="{C4ADDB4A-75EB-7B71-3F8F-E2B01967FBD4}"/>
              </a:ext>
            </a:extLst>
          </p:cNvPr>
          <p:cNvSpPr>
            <a:spLocks noChangeArrowheads="1"/>
          </p:cNvSpPr>
          <p:nvPr/>
        </p:nvSpPr>
        <p:spPr bwMode="auto">
          <a:xfrm>
            <a:off x="7330191" y="1786841"/>
            <a:ext cx="448667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Key Observations</a:t>
            </a:r>
          </a:p>
          <a:p>
            <a:pPr marL="742950" lvl="1"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ML improves intrusion detection</a:t>
            </a:r>
          </a:p>
          <a:p>
            <a:pPr marL="742950" lvl="1"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 performed best</a:t>
            </a:r>
          </a:p>
          <a:p>
            <a:pPr marL="742950" lvl="1" indent="-285750" eaLnBrk="0" fontAlgn="base" hangingPunct="0">
              <a:spcBef>
                <a:spcPct val="0"/>
              </a:spcBef>
              <a:spcAft>
                <a:spcPct val="0"/>
              </a:spcAft>
              <a:buFont typeface="Arial" panose="020B0604020202020204" pitchFamily="34" charset="0"/>
              <a:buChar char="•"/>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selection improves accuracy</a:t>
            </a:r>
          </a:p>
          <a:p>
            <a:pPr marL="742950" lvl="1" indent="-285750" eaLnBrk="0" fontAlgn="base" hangingPunct="0">
              <a:spcBef>
                <a:spcPct val="0"/>
              </a:spcBef>
              <a:spcAft>
                <a:spcPct val="0"/>
              </a:spcAft>
              <a:buFont typeface="Arial" panose="020B0604020202020204" pitchFamily="34" charset="0"/>
              <a:buChar char="•"/>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Preprocessing important for IDS</a:t>
            </a:r>
          </a:p>
          <a:p>
            <a:pPr marL="742950" lvl="1" indent="-285750" eaLnBrk="0" fontAlgn="base" hangingPunct="0">
              <a:spcBef>
                <a:spcPct val="0"/>
              </a:spcBef>
              <a:spcAft>
                <a:spcPct val="0"/>
              </a:spcAft>
              <a:buFont typeface="Arial" panose="020B0604020202020204" pitchFamily="34" charset="0"/>
              <a:buChar char="•"/>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FAR affects IDS reliability</a:t>
            </a:r>
          </a:p>
        </p:txBody>
      </p:sp>
    </p:spTree>
    <p:extLst>
      <p:ext uri="{BB962C8B-B14F-4D97-AF65-F5344CB8AC3E}">
        <p14:creationId xmlns:p14="http://schemas.microsoft.com/office/powerpoint/2010/main" val="2536786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20243-227A-069A-5956-1D1B5ECF1E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67EBE37-D067-49A8-BBDD-2BA588DB8F19}"/>
              </a:ext>
            </a:extLst>
          </p:cNvPr>
          <p:cNvSpPr txBox="1"/>
          <p:nvPr/>
        </p:nvSpPr>
        <p:spPr>
          <a:xfrm>
            <a:off x="781573" y="1298158"/>
            <a:ext cx="10628851" cy="4191981"/>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Preprocessing</a:t>
            </a:r>
          </a:p>
          <a:p>
            <a:pPr marL="800100" lvl="1"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Data Cleaning</a:t>
            </a:r>
            <a:r>
              <a:rPr lang="en-IN" sz="2000" dirty="0">
                <a:latin typeface="Times New Roman" panose="02020603050405020304" pitchFamily="18" charset="0"/>
                <a:cs typeface="Times New Roman" panose="02020603050405020304" pitchFamily="18" charset="0"/>
              </a:rPr>
              <a:t> — Dropped id and </a:t>
            </a:r>
            <a:r>
              <a:rPr lang="en-IN" sz="2000" dirty="0" err="1">
                <a:latin typeface="Times New Roman" panose="02020603050405020304" pitchFamily="18" charset="0"/>
                <a:cs typeface="Times New Roman" panose="02020603050405020304" pitchFamily="18" charset="0"/>
              </a:rPr>
              <a:t>attack_cat</a:t>
            </a:r>
            <a:r>
              <a:rPr lang="en-IN" sz="2000" dirty="0">
                <a:latin typeface="Times New Roman" panose="02020603050405020304" pitchFamily="18" charset="0"/>
                <a:cs typeface="Times New Roman" panose="02020603050405020304" pitchFamily="18" charset="0"/>
              </a:rPr>
              <a:t> columns; </a:t>
            </a:r>
          </a:p>
          <a:p>
            <a:pPr marL="800100" lvl="1"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Feature Engineering</a:t>
            </a:r>
            <a:r>
              <a:rPr lang="en-IN" sz="2000" dirty="0">
                <a:latin typeface="Times New Roman" panose="02020603050405020304" pitchFamily="18" charset="0"/>
                <a:cs typeface="Times New Roman" panose="02020603050405020304" pitchFamily="18" charset="0"/>
              </a:rPr>
              <a:t> — </a:t>
            </a:r>
            <a:r>
              <a:rPr lang="en-IN" sz="2000">
                <a:latin typeface="Times New Roman" panose="02020603050405020304" pitchFamily="18" charset="0"/>
                <a:cs typeface="Times New Roman" panose="02020603050405020304" pitchFamily="18" charset="0"/>
              </a:rPr>
              <a:t>Creatd</a:t>
            </a:r>
            <a:r>
              <a:rPr lang="en-IN" sz="2000" dirty="0">
                <a:latin typeface="Times New Roman" panose="02020603050405020304" pitchFamily="18" charset="0"/>
                <a:cs typeface="Times New Roman" panose="02020603050405020304" pitchFamily="18" charset="0"/>
              </a:rPr>
              <a:t> 6 new domain-based features : </a:t>
            </a:r>
            <a:r>
              <a:rPr lang="en-IN" sz="2000" dirty="0" err="1">
                <a:latin typeface="Times New Roman" panose="02020603050405020304" pitchFamily="18" charset="0"/>
                <a:cs typeface="Times New Roman" panose="02020603050405020304" pitchFamily="18" charset="0"/>
              </a:rPr>
              <a:t>network_bytes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byte_ratio</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packet_ratio</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duration_per_byte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bytes_per_packet</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load_ratio</a:t>
            </a:r>
            <a:endParaRPr lang="en-IN" sz="2000"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Drop Correlated Features</a:t>
            </a:r>
            <a:r>
              <a:rPr lang="en-IN" sz="2000" dirty="0">
                <a:latin typeface="Times New Roman" panose="02020603050405020304" pitchFamily="18" charset="0"/>
                <a:cs typeface="Times New Roman" panose="02020603050405020304" pitchFamily="18" charset="0"/>
              </a:rPr>
              <a:t> — Removed 7 highly correlated features (e.g., </a:t>
            </a:r>
            <a:r>
              <a:rPr lang="en-IN" sz="2000" dirty="0" err="1">
                <a:latin typeface="Times New Roman" panose="02020603050405020304" pitchFamily="18" charset="0"/>
                <a:cs typeface="Times New Roman" panose="02020603050405020304" pitchFamily="18" charset="0"/>
              </a:rPr>
              <a:t>sloss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dpkts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ltime</a:t>
            </a:r>
            <a:r>
              <a:rPr lang="en-IN" sz="2000" dirty="0">
                <a:latin typeface="Times New Roman" panose="02020603050405020304" pitchFamily="18" charset="0"/>
                <a:cs typeface="Times New Roman" panose="02020603050405020304" pitchFamily="18" charset="0"/>
              </a:rPr>
              <a:t>)</a:t>
            </a:r>
          </a:p>
          <a:p>
            <a:pPr marL="800100" lvl="1"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One-Hot Encoding</a:t>
            </a:r>
            <a:r>
              <a:rPr lang="en-IN" sz="2000" dirty="0">
                <a:latin typeface="Times New Roman" panose="02020603050405020304" pitchFamily="18" charset="0"/>
                <a:cs typeface="Times New Roman" panose="02020603050405020304" pitchFamily="18" charset="0"/>
              </a:rPr>
              <a:t> — Encoded categorical columns: proto, service, state</a:t>
            </a:r>
          </a:p>
          <a:p>
            <a:pPr marL="800100" lvl="1"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Define X and y</a:t>
            </a:r>
            <a:r>
              <a:rPr lang="en-IN" sz="2000" dirty="0">
                <a:latin typeface="Times New Roman" panose="02020603050405020304" pitchFamily="18" charset="0"/>
                <a:cs typeface="Times New Roman" panose="02020603050405020304" pitchFamily="18" charset="0"/>
              </a:rPr>
              <a:t> — Final feature matrix and binary label separated</a:t>
            </a:r>
          </a:p>
          <a:p>
            <a:pPr>
              <a:lnSpc>
                <a:spcPct val="150000"/>
              </a:lnSpc>
            </a:pPr>
            <a:endParaRPr lang="en-IN" sz="2000" dirty="0">
              <a:latin typeface="Times New Roman" panose="02020603050405020304" pitchFamily="18" charset="0"/>
              <a:ea typeface="MS Mincho" panose="02020609040205080304" pitchFamily="49" charset="-128"/>
              <a:cs typeface="Times New Roman" panose="02020603050405020304" pitchFamily="18" charset="0"/>
            </a:endParaRPr>
          </a:p>
          <a:p>
            <a:pPr lvl="0">
              <a:lnSpc>
                <a:spcPct val="150000"/>
              </a:lnSpc>
              <a:spcAft>
                <a:spcPts val="1000"/>
              </a:spcAft>
              <a:buSzPts val="1000"/>
              <a:tabLst>
                <a:tab pos="457200" algn="l"/>
              </a:tabLst>
            </a:pP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grpSp>
        <p:nvGrpSpPr>
          <p:cNvPr id="2" name="Google Shape;109;p21">
            <a:extLst>
              <a:ext uri="{FF2B5EF4-FFF2-40B4-BE49-F238E27FC236}">
                <a16:creationId xmlns:a16="http://schemas.microsoft.com/office/drawing/2014/main" id="{32B9A205-FC70-52AE-7E9E-5969FBECFC46}"/>
              </a:ext>
            </a:extLst>
          </p:cNvPr>
          <p:cNvGrpSpPr/>
          <p:nvPr/>
        </p:nvGrpSpPr>
        <p:grpSpPr>
          <a:xfrm>
            <a:off x="0" y="6471667"/>
            <a:ext cx="12191999" cy="386333"/>
            <a:chOff x="0" y="6342887"/>
            <a:chExt cx="12191999" cy="515111"/>
          </a:xfrm>
        </p:grpSpPr>
        <p:pic>
          <p:nvPicPr>
            <p:cNvPr id="4" name="Google Shape;110;p21">
              <a:extLst>
                <a:ext uri="{FF2B5EF4-FFF2-40B4-BE49-F238E27FC236}">
                  <a16:creationId xmlns:a16="http://schemas.microsoft.com/office/drawing/2014/main" id="{2B85B6DE-A7F8-5CB4-963A-92CD0F6C2B6F}"/>
                </a:ext>
              </a:extLst>
            </p:cNvPr>
            <p:cNvPicPr preferRelativeResize="0"/>
            <p:nvPr/>
          </p:nvPicPr>
          <p:blipFill rotWithShape="1">
            <a:blip r:embed="rId3">
              <a:alphaModFix/>
            </a:blip>
            <a:srcRect/>
            <a:stretch/>
          </p:blipFill>
          <p:spPr>
            <a:xfrm>
              <a:off x="126492" y="6490714"/>
              <a:ext cx="1781556" cy="313944"/>
            </a:xfrm>
            <a:prstGeom prst="rect">
              <a:avLst/>
            </a:prstGeom>
            <a:noFill/>
            <a:ln>
              <a:noFill/>
            </a:ln>
          </p:spPr>
        </p:pic>
        <p:pic>
          <p:nvPicPr>
            <p:cNvPr id="5" name="Google Shape;111;p21">
              <a:extLst>
                <a:ext uri="{FF2B5EF4-FFF2-40B4-BE49-F238E27FC236}">
                  <a16:creationId xmlns:a16="http://schemas.microsoft.com/office/drawing/2014/main" id="{464E2370-BB29-D14D-FB1C-5F9132DA257D}"/>
                </a:ext>
              </a:extLst>
            </p:cNvPr>
            <p:cNvPicPr preferRelativeResize="0"/>
            <p:nvPr/>
          </p:nvPicPr>
          <p:blipFill rotWithShape="1">
            <a:blip r:embed="rId4">
              <a:alphaModFix/>
            </a:blip>
            <a:srcRect/>
            <a:stretch/>
          </p:blipFill>
          <p:spPr>
            <a:xfrm>
              <a:off x="0" y="6342887"/>
              <a:ext cx="12191999" cy="515111"/>
            </a:xfrm>
            <a:prstGeom prst="rect">
              <a:avLst/>
            </a:prstGeom>
            <a:noFill/>
            <a:ln>
              <a:noFill/>
            </a:ln>
          </p:spPr>
        </p:pic>
        <p:pic>
          <p:nvPicPr>
            <p:cNvPr id="6" name="Google Shape;112;p21">
              <a:extLst>
                <a:ext uri="{FF2B5EF4-FFF2-40B4-BE49-F238E27FC236}">
                  <a16:creationId xmlns:a16="http://schemas.microsoft.com/office/drawing/2014/main" id="{57BB3225-E1A1-F05F-64DB-4276675608D1}"/>
                </a:ext>
              </a:extLst>
            </p:cNvPr>
            <p:cNvPicPr preferRelativeResize="0"/>
            <p:nvPr/>
          </p:nvPicPr>
          <p:blipFill rotWithShape="1">
            <a:blip r:embed="rId3">
              <a:alphaModFix/>
            </a:blip>
            <a:srcRect/>
            <a:stretch/>
          </p:blipFill>
          <p:spPr>
            <a:xfrm>
              <a:off x="222503" y="6446518"/>
              <a:ext cx="1781556" cy="313942"/>
            </a:xfrm>
            <a:prstGeom prst="rect">
              <a:avLst/>
            </a:prstGeom>
            <a:noFill/>
            <a:ln>
              <a:noFill/>
            </a:ln>
          </p:spPr>
        </p:pic>
      </p:grpSp>
      <p:sp>
        <p:nvSpPr>
          <p:cNvPr id="8" name="TextBox 7">
            <a:extLst>
              <a:ext uri="{FF2B5EF4-FFF2-40B4-BE49-F238E27FC236}">
                <a16:creationId xmlns:a16="http://schemas.microsoft.com/office/drawing/2014/main" id="{81C45F21-C983-EB31-C81A-C215058BFC01}"/>
              </a:ext>
            </a:extLst>
          </p:cNvPr>
          <p:cNvSpPr txBox="1"/>
          <p:nvPr/>
        </p:nvSpPr>
        <p:spPr>
          <a:xfrm>
            <a:off x="624039" y="283925"/>
            <a:ext cx="6428014" cy="710964"/>
          </a:xfrm>
          <a:prstGeom prst="rect">
            <a:avLst/>
          </a:prstGeom>
          <a:noFill/>
        </p:spPr>
        <p:txBody>
          <a:bodyPr wrap="square">
            <a:spAutoFit/>
          </a:bodyPr>
          <a:lstStyle/>
          <a:p>
            <a:pPr marL="342900" indent="-342900">
              <a:lnSpc>
                <a:spcPct val="115000"/>
              </a:lnSpc>
              <a:spcAft>
                <a:spcPts val="1000"/>
              </a:spcAft>
              <a:buFont typeface="Wingdings" panose="05000000000000000000" pitchFamily="2" charset="2"/>
              <a:buChar char="q"/>
            </a:pPr>
            <a:r>
              <a:rPr lang="en-IN" sz="3800" b="1"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rPr>
              <a:t> Methodology</a:t>
            </a:r>
            <a:endParaRPr lang="en-IN" sz="3800"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342662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59281-DB61-4BCB-B44C-DBB974B9703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BCD4A6B-AAFD-0AD7-1C29-62472B0EBB1B}"/>
              </a:ext>
            </a:extLst>
          </p:cNvPr>
          <p:cNvSpPr txBox="1"/>
          <p:nvPr/>
        </p:nvSpPr>
        <p:spPr>
          <a:xfrm>
            <a:off x="781573" y="1298158"/>
            <a:ext cx="10628851" cy="4191981"/>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Preprocessing</a:t>
            </a:r>
          </a:p>
          <a:p>
            <a:pPr marL="800100" lvl="1"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Data Cleaning</a:t>
            </a:r>
            <a:r>
              <a:rPr lang="en-IN" sz="2000" dirty="0">
                <a:latin typeface="Times New Roman" panose="02020603050405020304" pitchFamily="18" charset="0"/>
                <a:cs typeface="Times New Roman" panose="02020603050405020304" pitchFamily="18" charset="0"/>
              </a:rPr>
              <a:t> — Dropped id and </a:t>
            </a:r>
            <a:r>
              <a:rPr lang="en-IN" sz="2000" dirty="0" err="1">
                <a:latin typeface="Times New Roman" panose="02020603050405020304" pitchFamily="18" charset="0"/>
                <a:cs typeface="Times New Roman" panose="02020603050405020304" pitchFamily="18" charset="0"/>
              </a:rPr>
              <a:t>attack_cat</a:t>
            </a:r>
            <a:r>
              <a:rPr lang="en-IN" sz="2000" dirty="0">
                <a:latin typeface="Times New Roman" panose="02020603050405020304" pitchFamily="18" charset="0"/>
                <a:cs typeface="Times New Roman" panose="02020603050405020304" pitchFamily="18" charset="0"/>
              </a:rPr>
              <a:t> columns; </a:t>
            </a:r>
          </a:p>
          <a:p>
            <a:pPr marL="800100" lvl="1"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Feature Engineering</a:t>
            </a:r>
            <a:r>
              <a:rPr lang="en-IN" sz="2000" dirty="0">
                <a:latin typeface="Times New Roman" panose="02020603050405020304" pitchFamily="18" charset="0"/>
                <a:cs typeface="Times New Roman" panose="02020603050405020304" pitchFamily="18" charset="0"/>
              </a:rPr>
              <a:t> — Created 6 new domain-based features : </a:t>
            </a:r>
            <a:r>
              <a:rPr lang="en-IN" sz="2000" dirty="0" err="1">
                <a:latin typeface="Times New Roman" panose="02020603050405020304" pitchFamily="18" charset="0"/>
                <a:cs typeface="Times New Roman" panose="02020603050405020304" pitchFamily="18" charset="0"/>
              </a:rPr>
              <a:t>network_bytes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byte_ratio</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packet_ratio</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duration_per_byte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bytes_per_packet</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load_ratio</a:t>
            </a:r>
            <a:endParaRPr lang="en-IN" sz="2000"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Drop Correlated Features</a:t>
            </a:r>
            <a:r>
              <a:rPr lang="en-IN" sz="2000" dirty="0">
                <a:latin typeface="Times New Roman" panose="02020603050405020304" pitchFamily="18" charset="0"/>
                <a:cs typeface="Times New Roman" panose="02020603050405020304" pitchFamily="18" charset="0"/>
              </a:rPr>
              <a:t> — Removed 7 highly correlated features (e.g., </a:t>
            </a:r>
            <a:r>
              <a:rPr lang="en-IN" sz="2000" dirty="0" err="1">
                <a:latin typeface="Times New Roman" panose="02020603050405020304" pitchFamily="18" charset="0"/>
                <a:cs typeface="Times New Roman" panose="02020603050405020304" pitchFamily="18" charset="0"/>
              </a:rPr>
              <a:t>sloss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dpkts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ltime</a:t>
            </a:r>
            <a:r>
              <a:rPr lang="en-IN" sz="2000" dirty="0">
                <a:latin typeface="Times New Roman" panose="02020603050405020304" pitchFamily="18" charset="0"/>
                <a:cs typeface="Times New Roman" panose="02020603050405020304" pitchFamily="18" charset="0"/>
              </a:rPr>
              <a:t>)</a:t>
            </a:r>
          </a:p>
          <a:p>
            <a:pPr marL="800100" lvl="1"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One-Hot Encoding</a:t>
            </a:r>
            <a:r>
              <a:rPr lang="en-IN" sz="2000" dirty="0">
                <a:latin typeface="Times New Roman" panose="02020603050405020304" pitchFamily="18" charset="0"/>
                <a:cs typeface="Times New Roman" panose="02020603050405020304" pitchFamily="18" charset="0"/>
              </a:rPr>
              <a:t> — Encoded categorical columns: proto, service, state</a:t>
            </a:r>
          </a:p>
          <a:p>
            <a:pPr marL="800100" lvl="1"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Define X and y</a:t>
            </a:r>
            <a:r>
              <a:rPr lang="en-IN" sz="2000" dirty="0">
                <a:latin typeface="Times New Roman" panose="02020603050405020304" pitchFamily="18" charset="0"/>
                <a:cs typeface="Times New Roman" panose="02020603050405020304" pitchFamily="18" charset="0"/>
              </a:rPr>
              <a:t> — Final feature matrix and binary label separated</a:t>
            </a:r>
          </a:p>
          <a:p>
            <a:pPr>
              <a:lnSpc>
                <a:spcPct val="150000"/>
              </a:lnSpc>
            </a:pPr>
            <a:endParaRPr lang="en-IN" sz="2000" dirty="0">
              <a:latin typeface="Times New Roman" panose="02020603050405020304" pitchFamily="18" charset="0"/>
              <a:ea typeface="MS Mincho" panose="02020609040205080304" pitchFamily="49" charset="-128"/>
              <a:cs typeface="Times New Roman" panose="02020603050405020304" pitchFamily="18" charset="0"/>
            </a:endParaRPr>
          </a:p>
          <a:p>
            <a:pPr lvl="0">
              <a:lnSpc>
                <a:spcPct val="150000"/>
              </a:lnSpc>
              <a:spcAft>
                <a:spcPts val="1000"/>
              </a:spcAft>
              <a:buSzPts val="1000"/>
              <a:tabLst>
                <a:tab pos="457200" algn="l"/>
              </a:tabLst>
            </a:pP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grpSp>
        <p:nvGrpSpPr>
          <p:cNvPr id="2" name="Google Shape;109;p21">
            <a:extLst>
              <a:ext uri="{FF2B5EF4-FFF2-40B4-BE49-F238E27FC236}">
                <a16:creationId xmlns:a16="http://schemas.microsoft.com/office/drawing/2014/main" id="{AD2D27D0-56A2-09F0-9939-3A5761C0E15B}"/>
              </a:ext>
            </a:extLst>
          </p:cNvPr>
          <p:cNvGrpSpPr/>
          <p:nvPr/>
        </p:nvGrpSpPr>
        <p:grpSpPr>
          <a:xfrm>
            <a:off x="0" y="6471667"/>
            <a:ext cx="12191999" cy="386333"/>
            <a:chOff x="0" y="6342887"/>
            <a:chExt cx="12191999" cy="515111"/>
          </a:xfrm>
        </p:grpSpPr>
        <p:pic>
          <p:nvPicPr>
            <p:cNvPr id="4" name="Google Shape;110;p21">
              <a:extLst>
                <a:ext uri="{FF2B5EF4-FFF2-40B4-BE49-F238E27FC236}">
                  <a16:creationId xmlns:a16="http://schemas.microsoft.com/office/drawing/2014/main" id="{B2F313C6-740B-A918-B749-D50FA2825660}"/>
                </a:ext>
              </a:extLst>
            </p:cNvPr>
            <p:cNvPicPr preferRelativeResize="0"/>
            <p:nvPr/>
          </p:nvPicPr>
          <p:blipFill rotWithShape="1">
            <a:blip r:embed="rId3">
              <a:alphaModFix/>
            </a:blip>
            <a:srcRect/>
            <a:stretch/>
          </p:blipFill>
          <p:spPr>
            <a:xfrm>
              <a:off x="126492" y="6490714"/>
              <a:ext cx="1781556" cy="313944"/>
            </a:xfrm>
            <a:prstGeom prst="rect">
              <a:avLst/>
            </a:prstGeom>
            <a:noFill/>
            <a:ln>
              <a:noFill/>
            </a:ln>
          </p:spPr>
        </p:pic>
        <p:pic>
          <p:nvPicPr>
            <p:cNvPr id="5" name="Google Shape;111;p21">
              <a:extLst>
                <a:ext uri="{FF2B5EF4-FFF2-40B4-BE49-F238E27FC236}">
                  <a16:creationId xmlns:a16="http://schemas.microsoft.com/office/drawing/2014/main" id="{5FFB6374-A2B9-4B87-22D1-CD1220EA0B7A}"/>
                </a:ext>
              </a:extLst>
            </p:cNvPr>
            <p:cNvPicPr preferRelativeResize="0"/>
            <p:nvPr/>
          </p:nvPicPr>
          <p:blipFill rotWithShape="1">
            <a:blip r:embed="rId4">
              <a:alphaModFix/>
            </a:blip>
            <a:srcRect/>
            <a:stretch/>
          </p:blipFill>
          <p:spPr>
            <a:xfrm>
              <a:off x="0" y="6342887"/>
              <a:ext cx="12191999" cy="515111"/>
            </a:xfrm>
            <a:prstGeom prst="rect">
              <a:avLst/>
            </a:prstGeom>
            <a:noFill/>
            <a:ln>
              <a:noFill/>
            </a:ln>
          </p:spPr>
        </p:pic>
        <p:pic>
          <p:nvPicPr>
            <p:cNvPr id="6" name="Google Shape;112;p21">
              <a:extLst>
                <a:ext uri="{FF2B5EF4-FFF2-40B4-BE49-F238E27FC236}">
                  <a16:creationId xmlns:a16="http://schemas.microsoft.com/office/drawing/2014/main" id="{CF77940E-3B5F-87AC-864E-D1BAA393065F}"/>
                </a:ext>
              </a:extLst>
            </p:cNvPr>
            <p:cNvPicPr preferRelativeResize="0"/>
            <p:nvPr/>
          </p:nvPicPr>
          <p:blipFill rotWithShape="1">
            <a:blip r:embed="rId3">
              <a:alphaModFix/>
            </a:blip>
            <a:srcRect/>
            <a:stretch/>
          </p:blipFill>
          <p:spPr>
            <a:xfrm>
              <a:off x="222503" y="6446518"/>
              <a:ext cx="1781556" cy="313942"/>
            </a:xfrm>
            <a:prstGeom prst="rect">
              <a:avLst/>
            </a:prstGeom>
            <a:noFill/>
            <a:ln>
              <a:noFill/>
            </a:ln>
          </p:spPr>
        </p:pic>
      </p:grpSp>
      <p:sp>
        <p:nvSpPr>
          <p:cNvPr id="8" name="TextBox 7">
            <a:extLst>
              <a:ext uri="{FF2B5EF4-FFF2-40B4-BE49-F238E27FC236}">
                <a16:creationId xmlns:a16="http://schemas.microsoft.com/office/drawing/2014/main" id="{B49D5B02-64C3-11A3-3E39-978529896F01}"/>
              </a:ext>
            </a:extLst>
          </p:cNvPr>
          <p:cNvSpPr txBox="1"/>
          <p:nvPr/>
        </p:nvSpPr>
        <p:spPr>
          <a:xfrm>
            <a:off x="624039" y="283925"/>
            <a:ext cx="6428014" cy="710964"/>
          </a:xfrm>
          <a:prstGeom prst="rect">
            <a:avLst/>
          </a:prstGeom>
          <a:noFill/>
        </p:spPr>
        <p:txBody>
          <a:bodyPr wrap="square">
            <a:spAutoFit/>
          </a:bodyPr>
          <a:lstStyle/>
          <a:p>
            <a:pPr marL="342900" indent="-342900">
              <a:lnSpc>
                <a:spcPct val="115000"/>
              </a:lnSpc>
              <a:spcAft>
                <a:spcPts val="1000"/>
              </a:spcAft>
              <a:buFont typeface="Wingdings" panose="05000000000000000000" pitchFamily="2" charset="2"/>
              <a:buChar char="q"/>
            </a:pPr>
            <a:r>
              <a:rPr lang="en-IN" sz="3800" b="1"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rPr>
              <a:t> Methodology</a:t>
            </a:r>
            <a:endParaRPr lang="en-IN" sz="3800"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059675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4D11B-A99D-A1DD-86E9-25FDDE84D3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B12708-8FBB-5551-76B6-8456E1F44541}"/>
              </a:ext>
            </a:extLst>
          </p:cNvPr>
          <p:cNvSpPr txBox="1"/>
          <p:nvPr/>
        </p:nvSpPr>
        <p:spPr>
          <a:xfrm>
            <a:off x="1096603" y="1533632"/>
            <a:ext cx="9998791" cy="3511859"/>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Cross-Validation Strategy</a:t>
            </a:r>
          </a:p>
          <a:p>
            <a:pPr>
              <a:lnSpc>
                <a:spcPct val="150000"/>
              </a:lnSpc>
            </a:pPr>
            <a:r>
              <a:rPr lang="en-IN" dirty="0">
                <a:latin typeface="Times New Roman" panose="02020603050405020304" pitchFamily="18" charset="0"/>
                <a:cs typeface="Times New Roman" panose="02020603050405020304" pitchFamily="18" charset="0"/>
              </a:rPr>
              <a:t>Each fold follows this pipeline:</a:t>
            </a:r>
          </a:p>
          <a:p>
            <a:pPr marL="800100" lvl="1"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Fold Train Data → </a:t>
            </a:r>
            <a:r>
              <a:rPr lang="en-IN" b="1" dirty="0" err="1">
                <a:latin typeface="Times New Roman" panose="02020603050405020304" pitchFamily="18" charset="0"/>
                <a:cs typeface="Times New Roman" panose="02020603050405020304" pitchFamily="18" charset="0"/>
              </a:rPr>
              <a:t>StandardScaler</a:t>
            </a:r>
            <a:r>
              <a:rPr lang="en-IN" b="1" dirty="0">
                <a:latin typeface="Times New Roman" panose="02020603050405020304" pitchFamily="18" charset="0"/>
                <a:cs typeface="Times New Roman" panose="02020603050405020304" pitchFamily="18" charset="0"/>
              </a:rPr>
              <a:t> (fit on train only) → Scale both sets → SMOTE (train only) → Train Model → Evaluate on Fold Test</a:t>
            </a:r>
          </a:p>
          <a:p>
            <a:pPr marL="800100" lvl="1"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Every sample used for both training and testing across folds</a:t>
            </a:r>
          </a:p>
          <a:p>
            <a:pPr marL="800100" lvl="1"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Results averaged over 5 independent evaluations → more reliable</a:t>
            </a:r>
          </a:p>
          <a:p>
            <a:pPr marL="800100" lvl="1"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SMOTE applied </a:t>
            </a:r>
            <a:r>
              <a:rPr lang="en-IN" b="1" dirty="0">
                <a:latin typeface="Times New Roman" panose="02020603050405020304" pitchFamily="18" charset="0"/>
                <a:cs typeface="Times New Roman" panose="02020603050405020304" pitchFamily="18" charset="0"/>
              </a:rPr>
              <a:t>inside</a:t>
            </a:r>
            <a:r>
              <a:rPr lang="en-IN" dirty="0">
                <a:latin typeface="Times New Roman" panose="02020603050405020304" pitchFamily="18" charset="0"/>
                <a:cs typeface="Times New Roman" panose="02020603050405020304" pitchFamily="18" charset="0"/>
              </a:rPr>
              <a:t> each fold — no synthetic data leaks into test sets</a:t>
            </a:r>
            <a:endParaRPr lang="en-IN" dirty="0">
              <a:effectLst/>
              <a:latin typeface="Times New Roman" panose="02020603050405020304" pitchFamily="18" charset="0"/>
              <a:ea typeface="MS Mincho" panose="02020609040205080304" pitchFamily="49" charset="-128"/>
              <a:cs typeface="Times New Roman" panose="02020603050405020304" pitchFamily="18" charset="0"/>
            </a:endParaRPr>
          </a:p>
          <a:p>
            <a:pPr marL="285750" indent="-285750">
              <a:lnSpc>
                <a:spcPct val="150000"/>
              </a:lnSpc>
              <a:buFont typeface="Wingdings" panose="05000000000000000000" pitchFamily="2" charset="2"/>
              <a:buChar char="Ø"/>
            </a:pPr>
            <a:endParaRPr lang="en-IN" dirty="0"/>
          </a:p>
        </p:txBody>
      </p:sp>
      <p:grpSp>
        <p:nvGrpSpPr>
          <p:cNvPr id="2" name="Google Shape;109;p21">
            <a:extLst>
              <a:ext uri="{FF2B5EF4-FFF2-40B4-BE49-F238E27FC236}">
                <a16:creationId xmlns:a16="http://schemas.microsoft.com/office/drawing/2014/main" id="{27544DFB-458E-4977-6A3D-1BD666F0558E}"/>
              </a:ext>
            </a:extLst>
          </p:cNvPr>
          <p:cNvGrpSpPr/>
          <p:nvPr/>
        </p:nvGrpSpPr>
        <p:grpSpPr>
          <a:xfrm>
            <a:off x="0" y="6471667"/>
            <a:ext cx="12191999" cy="386333"/>
            <a:chOff x="0" y="6342887"/>
            <a:chExt cx="12191999" cy="515111"/>
          </a:xfrm>
        </p:grpSpPr>
        <p:pic>
          <p:nvPicPr>
            <p:cNvPr id="4" name="Google Shape;110;p21">
              <a:extLst>
                <a:ext uri="{FF2B5EF4-FFF2-40B4-BE49-F238E27FC236}">
                  <a16:creationId xmlns:a16="http://schemas.microsoft.com/office/drawing/2014/main" id="{DF551D28-A4B6-B228-980A-A4C9CAD7A4F8}"/>
                </a:ext>
              </a:extLst>
            </p:cNvPr>
            <p:cNvPicPr preferRelativeResize="0"/>
            <p:nvPr/>
          </p:nvPicPr>
          <p:blipFill rotWithShape="1">
            <a:blip r:embed="rId3">
              <a:alphaModFix/>
            </a:blip>
            <a:srcRect/>
            <a:stretch/>
          </p:blipFill>
          <p:spPr>
            <a:xfrm>
              <a:off x="126492" y="6490714"/>
              <a:ext cx="1781556" cy="313944"/>
            </a:xfrm>
            <a:prstGeom prst="rect">
              <a:avLst/>
            </a:prstGeom>
            <a:noFill/>
            <a:ln>
              <a:noFill/>
            </a:ln>
          </p:spPr>
        </p:pic>
        <p:pic>
          <p:nvPicPr>
            <p:cNvPr id="5" name="Google Shape;111;p21">
              <a:extLst>
                <a:ext uri="{FF2B5EF4-FFF2-40B4-BE49-F238E27FC236}">
                  <a16:creationId xmlns:a16="http://schemas.microsoft.com/office/drawing/2014/main" id="{BBB00AE2-0969-A1E3-D06A-0B89E298546F}"/>
                </a:ext>
              </a:extLst>
            </p:cNvPr>
            <p:cNvPicPr preferRelativeResize="0"/>
            <p:nvPr/>
          </p:nvPicPr>
          <p:blipFill rotWithShape="1">
            <a:blip r:embed="rId4">
              <a:alphaModFix/>
            </a:blip>
            <a:srcRect/>
            <a:stretch/>
          </p:blipFill>
          <p:spPr>
            <a:xfrm>
              <a:off x="0" y="6342887"/>
              <a:ext cx="12191999" cy="515111"/>
            </a:xfrm>
            <a:prstGeom prst="rect">
              <a:avLst/>
            </a:prstGeom>
            <a:noFill/>
            <a:ln>
              <a:noFill/>
            </a:ln>
          </p:spPr>
        </p:pic>
        <p:pic>
          <p:nvPicPr>
            <p:cNvPr id="6" name="Google Shape;112;p21">
              <a:extLst>
                <a:ext uri="{FF2B5EF4-FFF2-40B4-BE49-F238E27FC236}">
                  <a16:creationId xmlns:a16="http://schemas.microsoft.com/office/drawing/2014/main" id="{D2596A8D-8D46-CCBD-DBE3-D2AD34D41163}"/>
                </a:ext>
              </a:extLst>
            </p:cNvPr>
            <p:cNvPicPr preferRelativeResize="0"/>
            <p:nvPr/>
          </p:nvPicPr>
          <p:blipFill rotWithShape="1">
            <a:blip r:embed="rId3">
              <a:alphaModFix/>
            </a:blip>
            <a:srcRect/>
            <a:stretch/>
          </p:blipFill>
          <p:spPr>
            <a:xfrm>
              <a:off x="222503" y="6446518"/>
              <a:ext cx="1781556" cy="313942"/>
            </a:xfrm>
            <a:prstGeom prst="rect">
              <a:avLst/>
            </a:prstGeom>
            <a:noFill/>
            <a:ln>
              <a:noFill/>
            </a:ln>
          </p:spPr>
        </p:pic>
      </p:grpSp>
      <p:sp>
        <p:nvSpPr>
          <p:cNvPr id="8" name="TextBox 7">
            <a:extLst>
              <a:ext uri="{FF2B5EF4-FFF2-40B4-BE49-F238E27FC236}">
                <a16:creationId xmlns:a16="http://schemas.microsoft.com/office/drawing/2014/main" id="{8318A8D7-138E-28AC-DB29-5E94D3DB9CDC}"/>
              </a:ext>
            </a:extLst>
          </p:cNvPr>
          <p:cNvSpPr txBox="1"/>
          <p:nvPr/>
        </p:nvSpPr>
        <p:spPr>
          <a:xfrm>
            <a:off x="624039" y="283925"/>
            <a:ext cx="6428014" cy="743473"/>
          </a:xfrm>
          <a:prstGeom prst="rect">
            <a:avLst/>
          </a:prstGeom>
          <a:noFill/>
        </p:spPr>
        <p:txBody>
          <a:bodyPr wrap="square">
            <a:spAutoFit/>
          </a:bodyPr>
          <a:lstStyle/>
          <a:p>
            <a:pPr marL="342900" indent="-342900">
              <a:lnSpc>
                <a:spcPct val="115000"/>
              </a:lnSpc>
              <a:spcAft>
                <a:spcPts val="1000"/>
              </a:spcAft>
              <a:buFont typeface="Wingdings" panose="05000000000000000000" pitchFamily="2" charset="2"/>
              <a:buChar char="q"/>
            </a:pPr>
            <a:r>
              <a:rPr lang="en-IN" sz="3800" b="1"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IN" sz="4000" b="1"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rPr>
              <a:t>Methodology</a:t>
            </a:r>
            <a:endParaRPr lang="en-IN" sz="3800"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4207437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7CF7A-22CA-DCB9-1D00-715B9F13610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A4252E-7C2D-B85B-418F-B8EF57CD357C}"/>
              </a:ext>
            </a:extLst>
          </p:cNvPr>
          <p:cNvSpPr txBox="1"/>
          <p:nvPr/>
        </p:nvSpPr>
        <p:spPr>
          <a:xfrm>
            <a:off x="1390698" y="1136113"/>
            <a:ext cx="10628851" cy="4742132"/>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Classical ML Models Evaluated</a:t>
            </a:r>
            <a:endParaRPr lang="en-IN" b="1"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Logistic Regression</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Decision Tree</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Random Forest</a:t>
            </a:r>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Evaluation Metrics</a:t>
            </a:r>
          </a:p>
          <a:p>
            <a:r>
              <a:rPr lang="en-IN" sz="2000" b="1" dirty="0">
                <a:latin typeface="Times New Roman" panose="02020603050405020304" pitchFamily="18" charset="0"/>
                <a:cs typeface="Times New Roman" panose="02020603050405020304" pitchFamily="18" charset="0"/>
              </a:rPr>
              <a:t>All metrics averaged across 5 folds:</a:t>
            </a:r>
            <a:endParaRPr lang="en-IN" sz="20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Accuracy</a:t>
            </a:r>
          </a:p>
          <a:p>
            <a:pPr marL="800100" lvl="1"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Precision</a:t>
            </a:r>
          </a:p>
          <a:p>
            <a:pPr marL="800100" lvl="1"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Recall</a:t>
            </a:r>
          </a:p>
          <a:p>
            <a:pPr marL="800100" lvl="1"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F1-Score (± std dev across folds)</a:t>
            </a:r>
          </a:p>
          <a:p>
            <a:pPr marL="800100" lvl="1"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False Alarm Rate (FAR)</a:t>
            </a:r>
          </a:p>
          <a:p>
            <a:pPr marL="342900" lvl="0" indent="-342900">
              <a:lnSpc>
                <a:spcPct val="115000"/>
              </a:lnSpc>
              <a:spcAft>
                <a:spcPts val="1000"/>
              </a:spcAft>
              <a:buSzPts val="1000"/>
              <a:buFont typeface="Symbol" panose="05050102010706020507" pitchFamily="18" charset="2"/>
              <a:buChar char=""/>
              <a:tabLst>
                <a:tab pos="457200" algn="l"/>
              </a:tabLst>
            </a:pP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grpSp>
        <p:nvGrpSpPr>
          <p:cNvPr id="2" name="Google Shape;109;p21">
            <a:extLst>
              <a:ext uri="{FF2B5EF4-FFF2-40B4-BE49-F238E27FC236}">
                <a16:creationId xmlns:a16="http://schemas.microsoft.com/office/drawing/2014/main" id="{76BD8E11-4A94-4E38-7F7E-2380897CD977}"/>
              </a:ext>
            </a:extLst>
          </p:cNvPr>
          <p:cNvGrpSpPr/>
          <p:nvPr/>
        </p:nvGrpSpPr>
        <p:grpSpPr>
          <a:xfrm>
            <a:off x="0" y="6471667"/>
            <a:ext cx="12191999" cy="386333"/>
            <a:chOff x="0" y="6342887"/>
            <a:chExt cx="12191999" cy="515111"/>
          </a:xfrm>
        </p:grpSpPr>
        <p:pic>
          <p:nvPicPr>
            <p:cNvPr id="4" name="Google Shape;110;p21">
              <a:extLst>
                <a:ext uri="{FF2B5EF4-FFF2-40B4-BE49-F238E27FC236}">
                  <a16:creationId xmlns:a16="http://schemas.microsoft.com/office/drawing/2014/main" id="{3DC887F7-C9A6-6D3D-EC5A-2FE3DD435AA3}"/>
                </a:ext>
              </a:extLst>
            </p:cNvPr>
            <p:cNvPicPr preferRelativeResize="0"/>
            <p:nvPr/>
          </p:nvPicPr>
          <p:blipFill rotWithShape="1">
            <a:blip r:embed="rId3">
              <a:alphaModFix/>
            </a:blip>
            <a:srcRect/>
            <a:stretch/>
          </p:blipFill>
          <p:spPr>
            <a:xfrm>
              <a:off x="126492" y="6490714"/>
              <a:ext cx="1781556" cy="313944"/>
            </a:xfrm>
            <a:prstGeom prst="rect">
              <a:avLst/>
            </a:prstGeom>
            <a:noFill/>
            <a:ln>
              <a:noFill/>
            </a:ln>
          </p:spPr>
        </p:pic>
        <p:pic>
          <p:nvPicPr>
            <p:cNvPr id="5" name="Google Shape;111;p21">
              <a:extLst>
                <a:ext uri="{FF2B5EF4-FFF2-40B4-BE49-F238E27FC236}">
                  <a16:creationId xmlns:a16="http://schemas.microsoft.com/office/drawing/2014/main" id="{61698F2A-E1EC-F00C-DC70-B7588EDEC907}"/>
                </a:ext>
              </a:extLst>
            </p:cNvPr>
            <p:cNvPicPr preferRelativeResize="0"/>
            <p:nvPr/>
          </p:nvPicPr>
          <p:blipFill rotWithShape="1">
            <a:blip r:embed="rId4">
              <a:alphaModFix/>
            </a:blip>
            <a:srcRect/>
            <a:stretch/>
          </p:blipFill>
          <p:spPr>
            <a:xfrm>
              <a:off x="0" y="6342887"/>
              <a:ext cx="12191999" cy="515111"/>
            </a:xfrm>
            <a:prstGeom prst="rect">
              <a:avLst/>
            </a:prstGeom>
            <a:noFill/>
            <a:ln>
              <a:noFill/>
            </a:ln>
          </p:spPr>
        </p:pic>
        <p:pic>
          <p:nvPicPr>
            <p:cNvPr id="6" name="Google Shape;112;p21">
              <a:extLst>
                <a:ext uri="{FF2B5EF4-FFF2-40B4-BE49-F238E27FC236}">
                  <a16:creationId xmlns:a16="http://schemas.microsoft.com/office/drawing/2014/main" id="{EEED7134-E173-378C-4A2F-6DFE7437D842}"/>
                </a:ext>
              </a:extLst>
            </p:cNvPr>
            <p:cNvPicPr preferRelativeResize="0"/>
            <p:nvPr/>
          </p:nvPicPr>
          <p:blipFill rotWithShape="1">
            <a:blip r:embed="rId3">
              <a:alphaModFix/>
            </a:blip>
            <a:srcRect/>
            <a:stretch/>
          </p:blipFill>
          <p:spPr>
            <a:xfrm>
              <a:off x="222503" y="6446518"/>
              <a:ext cx="1781556" cy="313942"/>
            </a:xfrm>
            <a:prstGeom prst="rect">
              <a:avLst/>
            </a:prstGeom>
            <a:noFill/>
            <a:ln>
              <a:noFill/>
            </a:ln>
          </p:spPr>
        </p:pic>
      </p:grpSp>
      <p:sp>
        <p:nvSpPr>
          <p:cNvPr id="8" name="TextBox 7">
            <a:extLst>
              <a:ext uri="{FF2B5EF4-FFF2-40B4-BE49-F238E27FC236}">
                <a16:creationId xmlns:a16="http://schemas.microsoft.com/office/drawing/2014/main" id="{A3955828-59AD-A18E-DA15-3E87CF86CD2C}"/>
              </a:ext>
            </a:extLst>
          </p:cNvPr>
          <p:cNvSpPr txBox="1"/>
          <p:nvPr/>
        </p:nvSpPr>
        <p:spPr>
          <a:xfrm>
            <a:off x="624039" y="283925"/>
            <a:ext cx="6428014" cy="710964"/>
          </a:xfrm>
          <a:prstGeom prst="rect">
            <a:avLst/>
          </a:prstGeom>
          <a:noFill/>
        </p:spPr>
        <p:txBody>
          <a:bodyPr wrap="square">
            <a:spAutoFit/>
          </a:bodyPr>
          <a:lstStyle/>
          <a:p>
            <a:pPr marL="342900" indent="-342900">
              <a:lnSpc>
                <a:spcPct val="115000"/>
              </a:lnSpc>
              <a:spcAft>
                <a:spcPts val="1000"/>
              </a:spcAft>
              <a:buFont typeface="Wingdings" panose="05000000000000000000" pitchFamily="2" charset="2"/>
              <a:buChar char="q"/>
            </a:pPr>
            <a:r>
              <a:rPr lang="en-IN" sz="3800" b="1"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rPr>
              <a:t> Methodology</a:t>
            </a:r>
            <a:endParaRPr lang="en-IN" sz="3800"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7" name="TextBox 6">
            <a:extLst>
              <a:ext uri="{FF2B5EF4-FFF2-40B4-BE49-F238E27FC236}">
                <a16:creationId xmlns:a16="http://schemas.microsoft.com/office/drawing/2014/main" id="{465CD99F-55D1-A0CF-D529-F45C6AF0AD4F}"/>
              </a:ext>
            </a:extLst>
          </p:cNvPr>
          <p:cNvSpPr txBox="1"/>
          <p:nvPr/>
        </p:nvSpPr>
        <p:spPr>
          <a:xfrm>
            <a:off x="4412908" y="1713054"/>
            <a:ext cx="2292215" cy="1892826"/>
          </a:xfrm>
          <a:prstGeom prst="rect">
            <a:avLst/>
          </a:prstGeom>
          <a:noFill/>
        </p:spPr>
        <p:txBody>
          <a:bodyPr wrap="square" rtlCol="0">
            <a:spAutoFit/>
          </a:bodyPr>
          <a:lstStyle/>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Linear SVM</a:t>
            </a:r>
          </a:p>
          <a:p>
            <a:pPr marL="742950" lvl="1" indent="-285750">
              <a:lnSpc>
                <a:spcPct val="150000"/>
              </a:lnSpc>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a:t>
            </a:r>
            <a:endParaRPr lang="en-IN" i="1"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ea typeface="MS Mincho" panose="02020609040205080304" pitchFamily="49" charset="-128"/>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899857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109;p21">
            <a:extLst>
              <a:ext uri="{FF2B5EF4-FFF2-40B4-BE49-F238E27FC236}">
                <a16:creationId xmlns:a16="http://schemas.microsoft.com/office/drawing/2014/main" id="{9F9EC7AF-248E-FF4C-47AC-A68C8723D726}"/>
              </a:ext>
            </a:extLst>
          </p:cNvPr>
          <p:cNvGrpSpPr/>
          <p:nvPr/>
        </p:nvGrpSpPr>
        <p:grpSpPr>
          <a:xfrm>
            <a:off x="0" y="6471667"/>
            <a:ext cx="12191999" cy="386333"/>
            <a:chOff x="0" y="6342887"/>
            <a:chExt cx="12191999" cy="515111"/>
          </a:xfrm>
        </p:grpSpPr>
        <p:pic>
          <p:nvPicPr>
            <p:cNvPr id="4" name="Google Shape;110;p21">
              <a:extLst>
                <a:ext uri="{FF2B5EF4-FFF2-40B4-BE49-F238E27FC236}">
                  <a16:creationId xmlns:a16="http://schemas.microsoft.com/office/drawing/2014/main" id="{948B842B-F522-15FA-2B52-A3BF3F53233D}"/>
                </a:ext>
              </a:extLst>
            </p:cNvPr>
            <p:cNvPicPr preferRelativeResize="0"/>
            <p:nvPr/>
          </p:nvPicPr>
          <p:blipFill rotWithShape="1">
            <a:blip r:embed="rId3">
              <a:alphaModFix/>
            </a:blip>
            <a:srcRect/>
            <a:stretch/>
          </p:blipFill>
          <p:spPr>
            <a:xfrm>
              <a:off x="126492" y="6490714"/>
              <a:ext cx="1781556" cy="313944"/>
            </a:xfrm>
            <a:prstGeom prst="rect">
              <a:avLst/>
            </a:prstGeom>
            <a:noFill/>
            <a:ln>
              <a:noFill/>
            </a:ln>
          </p:spPr>
        </p:pic>
        <p:pic>
          <p:nvPicPr>
            <p:cNvPr id="5" name="Google Shape;111;p21">
              <a:extLst>
                <a:ext uri="{FF2B5EF4-FFF2-40B4-BE49-F238E27FC236}">
                  <a16:creationId xmlns:a16="http://schemas.microsoft.com/office/drawing/2014/main" id="{4965258E-27D1-884F-C92F-179B0115577C}"/>
                </a:ext>
              </a:extLst>
            </p:cNvPr>
            <p:cNvPicPr preferRelativeResize="0"/>
            <p:nvPr/>
          </p:nvPicPr>
          <p:blipFill rotWithShape="1">
            <a:blip r:embed="rId4">
              <a:alphaModFix/>
            </a:blip>
            <a:srcRect/>
            <a:stretch/>
          </p:blipFill>
          <p:spPr>
            <a:xfrm>
              <a:off x="0" y="6342887"/>
              <a:ext cx="12191999" cy="515111"/>
            </a:xfrm>
            <a:prstGeom prst="rect">
              <a:avLst/>
            </a:prstGeom>
            <a:noFill/>
            <a:ln>
              <a:noFill/>
            </a:ln>
          </p:spPr>
        </p:pic>
        <p:pic>
          <p:nvPicPr>
            <p:cNvPr id="6" name="Google Shape;112;p21">
              <a:extLst>
                <a:ext uri="{FF2B5EF4-FFF2-40B4-BE49-F238E27FC236}">
                  <a16:creationId xmlns:a16="http://schemas.microsoft.com/office/drawing/2014/main" id="{775BAE22-BCBF-FD4E-AA4D-140B58798BC8}"/>
                </a:ext>
              </a:extLst>
            </p:cNvPr>
            <p:cNvPicPr preferRelativeResize="0"/>
            <p:nvPr/>
          </p:nvPicPr>
          <p:blipFill rotWithShape="1">
            <a:blip r:embed="rId3">
              <a:alphaModFix/>
            </a:blip>
            <a:srcRect/>
            <a:stretch/>
          </p:blipFill>
          <p:spPr>
            <a:xfrm>
              <a:off x="222503" y="6446518"/>
              <a:ext cx="1781556" cy="313942"/>
            </a:xfrm>
            <a:prstGeom prst="rect">
              <a:avLst/>
            </a:prstGeom>
            <a:noFill/>
            <a:ln>
              <a:noFill/>
            </a:ln>
          </p:spPr>
        </p:pic>
      </p:grpSp>
      <p:sp>
        <p:nvSpPr>
          <p:cNvPr id="8" name="TextBox 7">
            <a:extLst>
              <a:ext uri="{FF2B5EF4-FFF2-40B4-BE49-F238E27FC236}">
                <a16:creationId xmlns:a16="http://schemas.microsoft.com/office/drawing/2014/main" id="{3D089EE4-88C2-F954-AF46-B1478BDEB1AC}"/>
              </a:ext>
            </a:extLst>
          </p:cNvPr>
          <p:cNvSpPr txBox="1"/>
          <p:nvPr/>
        </p:nvSpPr>
        <p:spPr>
          <a:xfrm>
            <a:off x="696686" y="507854"/>
            <a:ext cx="6096000" cy="710964"/>
          </a:xfrm>
          <a:prstGeom prst="rect">
            <a:avLst/>
          </a:prstGeom>
          <a:noFill/>
        </p:spPr>
        <p:txBody>
          <a:bodyPr wrap="square">
            <a:spAutoFit/>
          </a:bodyPr>
          <a:lstStyle/>
          <a:p>
            <a:pPr marL="342900" indent="-342900">
              <a:lnSpc>
                <a:spcPct val="115000"/>
              </a:lnSpc>
              <a:spcAft>
                <a:spcPts val="1000"/>
              </a:spcAft>
              <a:buFont typeface="Wingdings" panose="05000000000000000000" pitchFamily="2" charset="2"/>
              <a:buChar char="q"/>
            </a:pPr>
            <a:r>
              <a:rPr lang="en-IN" sz="3800" b="1"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rPr>
              <a:t>Results &amp; Analysis</a:t>
            </a:r>
            <a:endParaRPr lang="en-IN" sz="3800"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endParaRPr>
          </a:p>
        </p:txBody>
      </p:sp>
      <p:graphicFrame>
        <p:nvGraphicFramePr>
          <p:cNvPr id="15" name="Table 14">
            <a:extLst>
              <a:ext uri="{FF2B5EF4-FFF2-40B4-BE49-F238E27FC236}">
                <a16:creationId xmlns:a16="http://schemas.microsoft.com/office/drawing/2014/main" id="{8DF4BC29-7FB3-48C1-5EA2-E534D36653D3}"/>
              </a:ext>
            </a:extLst>
          </p:cNvPr>
          <p:cNvGraphicFramePr>
            <a:graphicFrameLocks noGrp="1"/>
          </p:cNvGraphicFramePr>
          <p:nvPr>
            <p:extLst>
              <p:ext uri="{D42A27DB-BD31-4B8C-83A1-F6EECF244321}">
                <p14:modId xmlns:p14="http://schemas.microsoft.com/office/powerpoint/2010/main" val="599097494"/>
              </p:ext>
            </p:extLst>
          </p:nvPr>
        </p:nvGraphicFramePr>
        <p:xfrm>
          <a:off x="1442064" y="1621171"/>
          <a:ext cx="9432763" cy="4404342"/>
        </p:xfrm>
        <a:graphic>
          <a:graphicData uri="http://schemas.openxmlformats.org/drawingml/2006/table">
            <a:tbl>
              <a:tblPr firstRow="1" bandRow="1">
                <a:tableStyleId>{5C22544A-7EE6-4342-B048-85BDC9FD1C3A}</a:tableStyleId>
              </a:tblPr>
              <a:tblGrid>
                <a:gridCol w="1594670">
                  <a:extLst>
                    <a:ext uri="{9D8B030D-6E8A-4147-A177-3AD203B41FA5}">
                      <a16:colId xmlns:a16="http://schemas.microsoft.com/office/drawing/2014/main" val="3241468764"/>
                    </a:ext>
                  </a:extLst>
                </a:gridCol>
                <a:gridCol w="1594670">
                  <a:extLst>
                    <a:ext uri="{9D8B030D-6E8A-4147-A177-3AD203B41FA5}">
                      <a16:colId xmlns:a16="http://schemas.microsoft.com/office/drawing/2014/main" val="3309314851"/>
                    </a:ext>
                  </a:extLst>
                </a:gridCol>
                <a:gridCol w="1594670">
                  <a:extLst>
                    <a:ext uri="{9D8B030D-6E8A-4147-A177-3AD203B41FA5}">
                      <a16:colId xmlns:a16="http://schemas.microsoft.com/office/drawing/2014/main" val="1547375027"/>
                    </a:ext>
                  </a:extLst>
                </a:gridCol>
                <a:gridCol w="1594670">
                  <a:extLst>
                    <a:ext uri="{9D8B030D-6E8A-4147-A177-3AD203B41FA5}">
                      <a16:colId xmlns:a16="http://schemas.microsoft.com/office/drawing/2014/main" val="2309771332"/>
                    </a:ext>
                  </a:extLst>
                </a:gridCol>
                <a:gridCol w="1594670">
                  <a:extLst>
                    <a:ext uri="{9D8B030D-6E8A-4147-A177-3AD203B41FA5}">
                      <a16:colId xmlns:a16="http://schemas.microsoft.com/office/drawing/2014/main" val="3510541820"/>
                    </a:ext>
                  </a:extLst>
                </a:gridCol>
                <a:gridCol w="1459413">
                  <a:extLst>
                    <a:ext uri="{9D8B030D-6E8A-4147-A177-3AD203B41FA5}">
                      <a16:colId xmlns:a16="http://schemas.microsoft.com/office/drawing/2014/main" val="4043946390"/>
                    </a:ext>
                  </a:extLst>
                </a:gridCol>
              </a:tblGrid>
              <a:tr h="489238">
                <a:tc>
                  <a:txBody>
                    <a:bodyPr/>
                    <a:lstStyle/>
                    <a:p>
                      <a:pPr>
                        <a:buNone/>
                      </a:pPr>
                      <a:r>
                        <a:rPr lang="en-IN" dirty="0"/>
                        <a:t>Model</a:t>
                      </a:r>
                    </a:p>
                  </a:txBody>
                  <a:tcPr anchor="ctr"/>
                </a:tc>
                <a:tc>
                  <a:txBody>
                    <a:bodyPr/>
                    <a:lstStyle/>
                    <a:p>
                      <a:pPr>
                        <a:buNone/>
                      </a:pPr>
                      <a:r>
                        <a:rPr lang="en-IN"/>
                        <a:t>Accuracy</a:t>
                      </a:r>
                    </a:p>
                  </a:txBody>
                  <a:tcPr anchor="ctr"/>
                </a:tc>
                <a:tc>
                  <a:txBody>
                    <a:bodyPr/>
                    <a:lstStyle/>
                    <a:p>
                      <a:pPr>
                        <a:buNone/>
                      </a:pPr>
                      <a:r>
                        <a:rPr lang="en-IN"/>
                        <a:t>Precision</a:t>
                      </a:r>
                    </a:p>
                  </a:txBody>
                  <a:tcPr anchor="ctr"/>
                </a:tc>
                <a:tc>
                  <a:txBody>
                    <a:bodyPr/>
                    <a:lstStyle/>
                    <a:p>
                      <a:pPr>
                        <a:buNone/>
                      </a:pPr>
                      <a:r>
                        <a:rPr lang="en-IN" dirty="0"/>
                        <a:t>Recall</a:t>
                      </a:r>
                    </a:p>
                  </a:txBody>
                  <a:tcPr anchor="ctr"/>
                </a:tc>
                <a:tc>
                  <a:txBody>
                    <a:bodyPr/>
                    <a:lstStyle/>
                    <a:p>
                      <a:pPr>
                        <a:buNone/>
                      </a:pPr>
                      <a:r>
                        <a:rPr lang="en-IN"/>
                        <a:t>F1-Score</a:t>
                      </a:r>
                    </a:p>
                  </a:txBody>
                  <a:tcPr anchor="ctr"/>
                </a:tc>
                <a:tc>
                  <a:txBody>
                    <a:bodyPr/>
                    <a:lstStyle/>
                    <a:p>
                      <a:pPr>
                        <a:buNone/>
                      </a:pPr>
                      <a:r>
                        <a:rPr lang="en-IN"/>
                        <a:t>FAR</a:t>
                      </a:r>
                    </a:p>
                  </a:txBody>
                  <a:tcPr anchor="ctr"/>
                </a:tc>
                <a:extLst>
                  <a:ext uri="{0D108BD9-81ED-4DB2-BD59-A6C34878D82A}">
                    <a16:rowId xmlns:a16="http://schemas.microsoft.com/office/drawing/2014/main" val="661163399"/>
                  </a:ext>
                </a:extLst>
              </a:tr>
              <a:tr h="692888">
                <a:tc>
                  <a:txBody>
                    <a:bodyPr/>
                    <a:lstStyle/>
                    <a:p>
                      <a:pPr>
                        <a:buNone/>
                      </a:pPr>
                      <a:r>
                        <a:rPr lang="en-IN" dirty="0"/>
                        <a:t>Logistic Regression</a:t>
                      </a:r>
                    </a:p>
                  </a:txBody>
                  <a:tcPr anchor="ctr"/>
                </a:tc>
                <a:tc>
                  <a:txBody>
                    <a:bodyPr/>
                    <a:lstStyle/>
                    <a:p>
                      <a:pPr>
                        <a:buNone/>
                      </a:pPr>
                      <a:r>
                        <a:rPr lang="en-IN"/>
                        <a:t>87.77%</a:t>
                      </a:r>
                    </a:p>
                  </a:txBody>
                  <a:tcPr anchor="ctr"/>
                </a:tc>
                <a:tc>
                  <a:txBody>
                    <a:bodyPr/>
                    <a:lstStyle/>
                    <a:p>
                      <a:pPr>
                        <a:buNone/>
                      </a:pPr>
                      <a:r>
                        <a:rPr lang="en-IN"/>
                        <a:t>91.04%</a:t>
                      </a:r>
                    </a:p>
                  </a:txBody>
                  <a:tcPr anchor="ctr"/>
                </a:tc>
                <a:tc>
                  <a:txBody>
                    <a:bodyPr/>
                    <a:lstStyle/>
                    <a:p>
                      <a:pPr>
                        <a:buNone/>
                      </a:pPr>
                      <a:r>
                        <a:rPr lang="en-IN"/>
                        <a:t>89.69%</a:t>
                      </a:r>
                    </a:p>
                  </a:txBody>
                  <a:tcPr anchor="ctr"/>
                </a:tc>
                <a:tc>
                  <a:txBody>
                    <a:bodyPr/>
                    <a:lstStyle/>
                    <a:p>
                      <a:pPr>
                        <a:buNone/>
                      </a:pPr>
                      <a:r>
                        <a:rPr lang="en-IN"/>
                        <a:t>90.36%</a:t>
                      </a:r>
                    </a:p>
                  </a:txBody>
                  <a:tcPr anchor="ctr"/>
                </a:tc>
                <a:tc>
                  <a:txBody>
                    <a:bodyPr/>
                    <a:lstStyle/>
                    <a:p>
                      <a:pPr>
                        <a:buNone/>
                      </a:pPr>
                      <a:r>
                        <a:rPr lang="en-IN"/>
                        <a:t>15.62%</a:t>
                      </a:r>
                    </a:p>
                  </a:txBody>
                  <a:tcPr anchor="ctr"/>
                </a:tc>
                <a:extLst>
                  <a:ext uri="{0D108BD9-81ED-4DB2-BD59-A6C34878D82A}">
                    <a16:rowId xmlns:a16="http://schemas.microsoft.com/office/drawing/2014/main" val="1482946732"/>
                  </a:ext>
                </a:extLst>
              </a:tr>
              <a:tr h="844437">
                <a:tc>
                  <a:txBody>
                    <a:bodyPr/>
                    <a:lstStyle/>
                    <a:p>
                      <a:pPr>
                        <a:buNone/>
                      </a:pPr>
                      <a:r>
                        <a:rPr lang="en-IN"/>
                        <a:t>Decision Tree</a:t>
                      </a:r>
                    </a:p>
                  </a:txBody>
                  <a:tcPr anchor="ctr"/>
                </a:tc>
                <a:tc>
                  <a:txBody>
                    <a:bodyPr/>
                    <a:lstStyle/>
                    <a:p>
                      <a:pPr>
                        <a:buNone/>
                      </a:pPr>
                      <a:r>
                        <a:rPr lang="en-IN"/>
                        <a:t>91.73%</a:t>
                      </a:r>
                    </a:p>
                  </a:txBody>
                  <a:tcPr anchor="ctr"/>
                </a:tc>
                <a:tc>
                  <a:txBody>
                    <a:bodyPr/>
                    <a:lstStyle/>
                    <a:p>
                      <a:pPr>
                        <a:buNone/>
                      </a:pPr>
                      <a:r>
                        <a:rPr lang="en-IN"/>
                        <a:t>96.36%</a:t>
                      </a:r>
                    </a:p>
                  </a:txBody>
                  <a:tcPr anchor="ctr"/>
                </a:tc>
                <a:tc>
                  <a:txBody>
                    <a:bodyPr/>
                    <a:lstStyle/>
                    <a:p>
                      <a:pPr>
                        <a:buNone/>
                      </a:pPr>
                      <a:r>
                        <a:rPr lang="en-IN"/>
                        <a:t>90.49%</a:t>
                      </a:r>
                    </a:p>
                  </a:txBody>
                  <a:tcPr anchor="ctr"/>
                </a:tc>
                <a:tc>
                  <a:txBody>
                    <a:bodyPr/>
                    <a:lstStyle/>
                    <a:p>
                      <a:pPr>
                        <a:buNone/>
                      </a:pPr>
                      <a:r>
                        <a:rPr lang="en-IN"/>
                        <a:t>93.33%</a:t>
                      </a:r>
                    </a:p>
                  </a:txBody>
                  <a:tcPr anchor="ctr"/>
                </a:tc>
                <a:tc>
                  <a:txBody>
                    <a:bodyPr/>
                    <a:lstStyle/>
                    <a:p>
                      <a:pPr>
                        <a:buNone/>
                      </a:pPr>
                      <a:r>
                        <a:rPr lang="en-IN"/>
                        <a:t>6.07%</a:t>
                      </a:r>
                    </a:p>
                  </a:txBody>
                  <a:tcPr anchor="ctr"/>
                </a:tc>
                <a:extLst>
                  <a:ext uri="{0D108BD9-81ED-4DB2-BD59-A6C34878D82A}">
                    <a16:rowId xmlns:a16="http://schemas.microsoft.com/office/drawing/2014/main" val="2763408291"/>
                  </a:ext>
                </a:extLst>
              </a:tr>
              <a:tr h="844437">
                <a:tc>
                  <a:txBody>
                    <a:bodyPr/>
                    <a:lstStyle/>
                    <a:p>
                      <a:pPr>
                        <a:buNone/>
                      </a:pPr>
                      <a:r>
                        <a:rPr lang="en-IN"/>
                        <a:t>Random Forest</a:t>
                      </a:r>
                    </a:p>
                  </a:txBody>
                  <a:tcPr anchor="ctr"/>
                </a:tc>
                <a:tc>
                  <a:txBody>
                    <a:bodyPr/>
                    <a:lstStyle/>
                    <a:p>
                      <a:pPr>
                        <a:buNone/>
                      </a:pPr>
                      <a:r>
                        <a:rPr lang="en-IN"/>
                        <a:t>94.06%</a:t>
                      </a:r>
                    </a:p>
                  </a:txBody>
                  <a:tcPr anchor="ctr"/>
                </a:tc>
                <a:tc>
                  <a:txBody>
                    <a:bodyPr/>
                    <a:lstStyle/>
                    <a:p>
                      <a:pPr>
                        <a:buNone/>
                      </a:pPr>
                      <a:r>
                        <a:rPr lang="en-IN"/>
                        <a:t>97.06%</a:t>
                      </a:r>
                    </a:p>
                  </a:txBody>
                  <a:tcPr anchor="ctr"/>
                </a:tc>
                <a:tc>
                  <a:txBody>
                    <a:bodyPr/>
                    <a:lstStyle/>
                    <a:p>
                      <a:pPr>
                        <a:buNone/>
                      </a:pPr>
                      <a:r>
                        <a:rPr lang="en-IN"/>
                        <a:t>93.54%</a:t>
                      </a:r>
                    </a:p>
                  </a:txBody>
                  <a:tcPr anchor="ctr"/>
                </a:tc>
                <a:tc>
                  <a:txBody>
                    <a:bodyPr/>
                    <a:lstStyle/>
                    <a:p>
                      <a:pPr>
                        <a:buNone/>
                      </a:pPr>
                      <a:r>
                        <a:rPr lang="en-IN"/>
                        <a:t>95.27%</a:t>
                      </a:r>
                    </a:p>
                  </a:txBody>
                  <a:tcPr anchor="ctr"/>
                </a:tc>
                <a:tc>
                  <a:txBody>
                    <a:bodyPr/>
                    <a:lstStyle/>
                    <a:p>
                      <a:pPr>
                        <a:buNone/>
                      </a:pPr>
                      <a:r>
                        <a:rPr lang="en-IN"/>
                        <a:t>5.01%</a:t>
                      </a:r>
                    </a:p>
                  </a:txBody>
                  <a:tcPr anchor="ctr"/>
                </a:tc>
                <a:extLst>
                  <a:ext uri="{0D108BD9-81ED-4DB2-BD59-A6C34878D82A}">
                    <a16:rowId xmlns:a16="http://schemas.microsoft.com/office/drawing/2014/main" val="255624971"/>
                  </a:ext>
                </a:extLst>
              </a:tr>
              <a:tr h="554866">
                <a:tc>
                  <a:txBody>
                    <a:bodyPr/>
                    <a:lstStyle/>
                    <a:p>
                      <a:pPr>
                        <a:buNone/>
                      </a:pPr>
                      <a:r>
                        <a:rPr lang="en-IN"/>
                        <a:t>Linear SVM</a:t>
                      </a:r>
                    </a:p>
                  </a:txBody>
                  <a:tcPr anchor="ctr"/>
                </a:tc>
                <a:tc>
                  <a:txBody>
                    <a:bodyPr/>
                    <a:lstStyle/>
                    <a:p>
                      <a:pPr>
                        <a:buNone/>
                      </a:pPr>
                      <a:r>
                        <a:rPr lang="en-IN"/>
                        <a:t>87.55%</a:t>
                      </a:r>
                    </a:p>
                  </a:txBody>
                  <a:tcPr anchor="ctr"/>
                </a:tc>
                <a:tc>
                  <a:txBody>
                    <a:bodyPr/>
                    <a:lstStyle/>
                    <a:p>
                      <a:pPr>
                        <a:buNone/>
                      </a:pPr>
                      <a:r>
                        <a:rPr lang="en-IN"/>
                        <a:t>91.51%</a:t>
                      </a:r>
                    </a:p>
                  </a:txBody>
                  <a:tcPr anchor="ctr"/>
                </a:tc>
                <a:tc>
                  <a:txBody>
                    <a:bodyPr/>
                    <a:lstStyle/>
                    <a:p>
                      <a:pPr>
                        <a:buNone/>
                      </a:pPr>
                      <a:r>
                        <a:rPr lang="en-IN"/>
                        <a:t>88.76%</a:t>
                      </a:r>
                    </a:p>
                  </a:txBody>
                  <a:tcPr anchor="ctr"/>
                </a:tc>
                <a:tc>
                  <a:txBody>
                    <a:bodyPr/>
                    <a:lstStyle/>
                    <a:p>
                      <a:pPr>
                        <a:buNone/>
                      </a:pPr>
                      <a:r>
                        <a:rPr lang="en-IN"/>
                        <a:t>90.11%</a:t>
                      </a:r>
                    </a:p>
                  </a:txBody>
                  <a:tcPr anchor="ctr"/>
                </a:tc>
                <a:tc>
                  <a:txBody>
                    <a:bodyPr/>
                    <a:lstStyle/>
                    <a:p>
                      <a:pPr>
                        <a:buNone/>
                      </a:pPr>
                      <a:r>
                        <a:rPr lang="en-IN"/>
                        <a:t>14.59%</a:t>
                      </a:r>
                    </a:p>
                  </a:txBody>
                  <a:tcPr anchor="ctr"/>
                </a:tc>
                <a:extLst>
                  <a:ext uri="{0D108BD9-81ED-4DB2-BD59-A6C34878D82A}">
                    <a16:rowId xmlns:a16="http://schemas.microsoft.com/office/drawing/2014/main" val="911394781"/>
                  </a:ext>
                </a:extLst>
              </a:tr>
              <a:tr h="489238">
                <a:tc>
                  <a:txBody>
                    <a:bodyPr/>
                    <a:lstStyle/>
                    <a:p>
                      <a:pPr>
                        <a:buNone/>
                      </a:pPr>
                      <a:r>
                        <a:rPr lang="en-IN" dirty="0"/>
                        <a:t>XG Boost</a:t>
                      </a:r>
                    </a:p>
                  </a:txBody>
                  <a:tcPr anchor="ctr"/>
                </a:tc>
                <a:tc>
                  <a:txBody>
                    <a:bodyPr/>
                    <a:lstStyle/>
                    <a:p>
                      <a:pPr>
                        <a:buNone/>
                      </a:pPr>
                      <a:r>
                        <a:rPr lang="en-IN"/>
                        <a:t>94.42%</a:t>
                      </a:r>
                    </a:p>
                  </a:txBody>
                  <a:tcPr anchor="ctr"/>
                </a:tc>
                <a:tc>
                  <a:txBody>
                    <a:bodyPr/>
                    <a:lstStyle/>
                    <a:p>
                      <a:pPr>
                        <a:buNone/>
                      </a:pPr>
                      <a:r>
                        <a:rPr lang="en-IN"/>
                        <a:t>96.16%</a:t>
                      </a:r>
                    </a:p>
                  </a:txBody>
                  <a:tcPr anchor="ctr"/>
                </a:tc>
                <a:tc>
                  <a:txBody>
                    <a:bodyPr/>
                    <a:lstStyle/>
                    <a:p>
                      <a:pPr>
                        <a:buNone/>
                      </a:pPr>
                      <a:r>
                        <a:rPr lang="en-IN"/>
                        <a:t>95.06%</a:t>
                      </a:r>
                    </a:p>
                  </a:txBody>
                  <a:tcPr anchor="ctr"/>
                </a:tc>
                <a:tc>
                  <a:txBody>
                    <a:bodyPr/>
                    <a:lstStyle/>
                    <a:p>
                      <a:pPr>
                        <a:buNone/>
                      </a:pPr>
                      <a:r>
                        <a:rPr lang="en-IN"/>
                        <a:t>95.61%</a:t>
                      </a:r>
                    </a:p>
                  </a:txBody>
                  <a:tcPr anchor="ctr"/>
                </a:tc>
                <a:tc>
                  <a:txBody>
                    <a:bodyPr/>
                    <a:lstStyle/>
                    <a:p>
                      <a:pPr>
                        <a:buNone/>
                      </a:pPr>
                      <a:r>
                        <a:rPr lang="en-IN"/>
                        <a:t>6.73%</a:t>
                      </a:r>
                    </a:p>
                  </a:txBody>
                  <a:tcPr anchor="ctr"/>
                </a:tc>
                <a:extLst>
                  <a:ext uri="{0D108BD9-81ED-4DB2-BD59-A6C34878D82A}">
                    <a16:rowId xmlns:a16="http://schemas.microsoft.com/office/drawing/2014/main" val="3017499804"/>
                  </a:ext>
                </a:extLst>
              </a:tr>
              <a:tr h="489238">
                <a:tc>
                  <a:txBody>
                    <a:bodyPr/>
                    <a:lstStyle/>
                    <a:p>
                      <a:pPr>
                        <a:buNone/>
                      </a:pPr>
                      <a:r>
                        <a:rPr lang="en-IN"/>
                        <a:t>LightGBM</a:t>
                      </a:r>
                    </a:p>
                  </a:txBody>
                  <a:tcPr anchor="ctr"/>
                </a:tc>
                <a:tc>
                  <a:txBody>
                    <a:bodyPr/>
                    <a:lstStyle/>
                    <a:p>
                      <a:pPr>
                        <a:buNone/>
                      </a:pPr>
                      <a:r>
                        <a:rPr lang="en-IN"/>
                        <a:t>94.15%</a:t>
                      </a:r>
                    </a:p>
                  </a:txBody>
                  <a:tcPr anchor="ctr"/>
                </a:tc>
                <a:tc>
                  <a:txBody>
                    <a:bodyPr/>
                    <a:lstStyle/>
                    <a:p>
                      <a:pPr>
                        <a:buNone/>
                      </a:pPr>
                      <a:r>
                        <a:rPr lang="en-IN"/>
                        <a:t>96.55%</a:t>
                      </a:r>
                    </a:p>
                  </a:txBody>
                  <a:tcPr anchor="ctr"/>
                </a:tc>
                <a:tc>
                  <a:txBody>
                    <a:bodyPr/>
                    <a:lstStyle/>
                    <a:p>
                      <a:pPr>
                        <a:buNone/>
                      </a:pPr>
                      <a:r>
                        <a:rPr lang="en-IN"/>
                        <a:t>94.21%</a:t>
                      </a:r>
                    </a:p>
                  </a:txBody>
                  <a:tcPr anchor="ctr"/>
                </a:tc>
                <a:tc>
                  <a:txBody>
                    <a:bodyPr/>
                    <a:lstStyle/>
                    <a:p>
                      <a:pPr>
                        <a:buNone/>
                      </a:pPr>
                      <a:r>
                        <a:rPr lang="en-IN"/>
                        <a:t>95.37%</a:t>
                      </a:r>
                    </a:p>
                  </a:txBody>
                  <a:tcPr anchor="ctr"/>
                </a:tc>
                <a:tc>
                  <a:txBody>
                    <a:bodyPr/>
                    <a:lstStyle/>
                    <a:p>
                      <a:pPr>
                        <a:buNone/>
                      </a:pPr>
                      <a:r>
                        <a:rPr lang="en-IN" dirty="0"/>
                        <a:t>5.95%</a:t>
                      </a:r>
                    </a:p>
                  </a:txBody>
                  <a:tcPr anchor="ctr"/>
                </a:tc>
                <a:extLst>
                  <a:ext uri="{0D108BD9-81ED-4DB2-BD59-A6C34878D82A}">
                    <a16:rowId xmlns:a16="http://schemas.microsoft.com/office/drawing/2014/main" val="4142106757"/>
                  </a:ext>
                </a:extLst>
              </a:tr>
            </a:tbl>
          </a:graphicData>
        </a:graphic>
      </p:graphicFrame>
    </p:spTree>
    <p:extLst>
      <p:ext uri="{BB962C8B-B14F-4D97-AF65-F5344CB8AC3E}">
        <p14:creationId xmlns:p14="http://schemas.microsoft.com/office/powerpoint/2010/main" val="4071641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109;p21">
            <a:extLst>
              <a:ext uri="{FF2B5EF4-FFF2-40B4-BE49-F238E27FC236}">
                <a16:creationId xmlns:a16="http://schemas.microsoft.com/office/drawing/2014/main" id="{95D4F7DA-EAC1-7E2F-492F-730A906B24AF}"/>
              </a:ext>
            </a:extLst>
          </p:cNvPr>
          <p:cNvGrpSpPr/>
          <p:nvPr/>
        </p:nvGrpSpPr>
        <p:grpSpPr>
          <a:xfrm>
            <a:off x="0" y="6471667"/>
            <a:ext cx="12191999" cy="386333"/>
            <a:chOff x="0" y="6342887"/>
            <a:chExt cx="12191999" cy="515111"/>
          </a:xfrm>
        </p:grpSpPr>
        <p:pic>
          <p:nvPicPr>
            <p:cNvPr id="3" name="Google Shape;110;p21">
              <a:extLst>
                <a:ext uri="{FF2B5EF4-FFF2-40B4-BE49-F238E27FC236}">
                  <a16:creationId xmlns:a16="http://schemas.microsoft.com/office/drawing/2014/main" id="{46F95DB7-0E17-666A-B217-E45586B035FB}"/>
                </a:ext>
              </a:extLst>
            </p:cNvPr>
            <p:cNvPicPr preferRelativeResize="0"/>
            <p:nvPr/>
          </p:nvPicPr>
          <p:blipFill rotWithShape="1">
            <a:blip r:embed="rId3">
              <a:alphaModFix/>
            </a:blip>
            <a:srcRect/>
            <a:stretch/>
          </p:blipFill>
          <p:spPr>
            <a:xfrm>
              <a:off x="126492" y="6490714"/>
              <a:ext cx="1781556" cy="313944"/>
            </a:xfrm>
            <a:prstGeom prst="rect">
              <a:avLst/>
            </a:prstGeom>
            <a:noFill/>
            <a:ln>
              <a:noFill/>
            </a:ln>
          </p:spPr>
        </p:pic>
        <p:pic>
          <p:nvPicPr>
            <p:cNvPr id="4" name="Google Shape;111;p21">
              <a:extLst>
                <a:ext uri="{FF2B5EF4-FFF2-40B4-BE49-F238E27FC236}">
                  <a16:creationId xmlns:a16="http://schemas.microsoft.com/office/drawing/2014/main" id="{373E6461-8443-EBD8-1EB8-822AE5FF6A65}"/>
                </a:ext>
              </a:extLst>
            </p:cNvPr>
            <p:cNvPicPr preferRelativeResize="0"/>
            <p:nvPr/>
          </p:nvPicPr>
          <p:blipFill rotWithShape="1">
            <a:blip r:embed="rId4">
              <a:alphaModFix/>
            </a:blip>
            <a:srcRect/>
            <a:stretch/>
          </p:blipFill>
          <p:spPr>
            <a:xfrm>
              <a:off x="0" y="6342887"/>
              <a:ext cx="12191999" cy="515111"/>
            </a:xfrm>
            <a:prstGeom prst="rect">
              <a:avLst/>
            </a:prstGeom>
            <a:noFill/>
            <a:ln>
              <a:noFill/>
            </a:ln>
          </p:spPr>
        </p:pic>
        <p:pic>
          <p:nvPicPr>
            <p:cNvPr id="6" name="Google Shape;112;p21">
              <a:extLst>
                <a:ext uri="{FF2B5EF4-FFF2-40B4-BE49-F238E27FC236}">
                  <a16:creationId xmlns:a16="http://schemas.microsoft.com/office/drawing/2014/main" id="{2B0FAE75-4B1E-4C34-D8C1-5FDF07E84F86}"/>
                </a:ext>
              </a:extLst>
            </p:cNvPr>
            <p:cNvPicPr preferRelativeResize="0"/>
            <p:nvPr/>
          </p:nvPicPr>
          <p:blipFill rotWithShape="1">
            <a:blip r:embed="rId3">
              <a:alphaModFix/>
            </a:blip>
            <a:srcRect/>
            <a:stretch/>
          </p:blipFill>
          <p:spPr>
            <a:xfrm>
              <a:off x="222503" y="6446518"/>
              <a:ext cx="1781556" cy="313942"/>
            </a:xfrm>
            <a:prstGeom prst="rect">
              <a:avLst/>
            </a:prstGeom>
            <a:noFill/>
            <a:ln>
              <a:noFill/>
            </a:ln>
          </p:spPr>
        </p:pic>
      </p:grpSp>
      <p:sp>
        <p:nvSpPr>
          <p:cNvPr id="7" name="TextBox 6">
            <a:extLst>
              <a:ext uri="{FF2B5EF4-FFF2-40B4-BE49-F238E27FC236}">
                <a16:creationId xmlns:a16="http://schemas.microsoft.com/office/drawing/2014/main" id="{C75A06D4-617C-6259-C774-AC8FF1F8A91E}"/>
              </a:ext>
            </a:extLst>
          </p:cNvPr>
          <p:cNvSpPr txBox="1"/>
          <p:nvPr/>
        </p:nvSpPr>
        <p:spPr>
          <a:xfrm>
            <a:off x="1017270" y="1462204"/>
            <a:ext cx="10173871" cy="4978735"/>
          </a:xfrm>
          <a:prstGeom prst="rect">
            <a:avLst/>
          </a:prstGeom>
          <a:noFill/>
        </p:spPr>
        <p:txBody>
          <a:bodyPr wrap="square">
            <a:spAutoFit/>
          </a:bodyPr>
          <a:lstStyle/>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dirty="0" err="1">
                <a:latin typeface="Times New Roman" panose="02020603050405020304" pitchFamily="18" charset="0"/>
                <a:cs typeface="Times New Roman" panose="02020603050405020304" pitchFamily="18" charset="0"/>
              </a:rPr>
              <a:t>XGBoost</a:t>
            </a:r>
            <a:r>
              <a:rPr lang="en-US" altLang="en-US" dirty="0">
                <a:latin typeface="Times New Roman" panose="02020603050405020304" pitchFamily="18" charset="0"/>
                <a:cs typeface="Times New Roman" panose="02020603050405020304" pitchFamily="18" charset="0"/>
              </a:rPr>
              <a:t> achieved the highest accuracy </a:t>
            </a:r>
            <a:r>
              <a:rPr lang="en-US" altLang="en-US" b="1" dirty="0">
                <a:latin typeface="Times New Roman" panose="02020603050405020304" pitchFamily="18" charset="0"/>
                <a:cs typeface="Times New Roman" panose="02020603050405020304" pitchFamily="18" charset="0"/>
              </a:rPr>
              <a:t>(94.42%)</a:t>
            </a:r>
            <a:r>
              <a:rPr lang="en-US" altLang="en-US" dirty="0">
                <a:latin typeface="Times New Roman" panose="02020603050405020304" pitchFamily="18" charset="0"/>
                <a:cs typeface="Times New Roman" panose="02020603050405020304" pitchFamily="18" charset="0"/>
              </a:rPr>
              <a:t> and F1-Score </a:t>
            </a:r>
            <a:r>
              <a:rPr lang="en-US" altLang="en-US" b="1" dirty="0">
                <a:latin typeface="Times New Roman" panose="02020603050405020304" pitchFamily="18" charset="0"/>
                <a:cs typeface="Times New Roman" panose="02020603050405020304" pitchFamily="18" charset="0"/>
              </a:rPr>
              <a:t>(95.61%)</a:t>
            </a:r>
            <a:r>
              <a:rPr lang="en-US" altLang="en-US" dirty="0">
                <a:latin typeface="Times New Roman" panose="02020603050405020304" pitchFamily="18" charset="0"/>
                <a:cs typeface="Times New Roman" panose="02020603050405020304" pitchFamily="18" charset="0"/>
              </a:rPr>
              <a:t>, making it the best overall performing model in this study. </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Gradient boosting models (</a:t>
            </a:r>
            <a:r>
              <a:rPr lang="en-US" altLang="en-US" dirty="0" err="1">
                <a:latin typeface="Times New Roman" panose="02020603050405020304" pitchFamily="18" charset="0"/>
                <a:cs typeface="Times New Roman" panose="02020603050405020304" pitchFamily="18" charset="0"/>
              </a:rPr>
              <a:t>XGBoost</a:t>
            </a:r>
            <a:r>
              <a:rPr lang="en-US" altLang="en-US" dirty="0">
                <a:latin typeface="Times New Roman" panose="02020603050405020304" pitchFamily="18" charset="0"/>
                <a:cs typeface="Times New Roman" panose="02020603050405020304" pitchFamily="18" charset="0"/>
              </a:rPr>
              <a:t> &amp; </a:t>
            </a:r>
            <a:r>
              <a:rPr lang="en-US" altLang="en-US" dirty="0" err="1">
                <a:latin typeface="Times New Roman" panose="02020603050405020304" pitchFamily="18" charset="0"/>
                <a:cs typeface="Times New Roman" panose="02020603050405020304" pitchFamily="18" charset="0"/>
              </a:rPr>
              <a:t>LightGBM</a:t>
            </a:r>
            <a:r>
              <a:rPr lang="en-US" altLang="en-US" dirty="0">
                <a:latin typeface="Times New Roman" panose="02020603050405020304" pitchFamily="18" charset="0"/>
                <a:cs typeface="Times New Roman" panose="02020603050405020304" pitchFamily="18" charset="0"/>
              </a:rPr>
              <a:t>) consistently outperformed all base paper models across every evaluation metric, confirming they are the most suitable approach for intrusion detection. </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Random Forest achieved the lowest False Alarm Rate </a:t>
            </a:r>
            <a:r>
              <a:rPr lang="en-US" altLang="en-US" b="1" dirty="0">
                <a:latin typeface="Times New Roman" panose="02020603050405020304" pitchFamily="18" charset="0"/>
                <a:cs typeface="Times New Roman" panose="02020603050405020304" pitchFamily="18" charset="0"/>
              </a:rPr>
              <a:t>(5.01%)</a:t>
            </a:r>
            <a:r>
              <a:rPr lang="en-US" altLang="en-US" dirty="0">
                <a:latin typeface="Times New Roman" panose="02020603050405020304" pitchFamily="18" charset="0"/>
                <a:cs typeface="Times New Roman" panose="02020603050405020304" pitchFamily="18" charset="0"/>
              </a:rPr>
              <a:t>, making it the most reliable model for minimizing false alerts in real-world IDS deployment. </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Linear models (Logistic Regression &amp; Linear SVM) performed weakest with accuracy below </a:t>
            </a:r>
            <a:r>
              <a:rPr lang="en-US" altLang="en-US" b="1" dirty="0">
                <a:latin typeface="Times New Roman" panose="02020603050405020304" pitchFamily="18" charset="0"/>
                <a:cs typeface="Times New Roman" panose="02020603050405020304" pitchFamily="18" charset="0"/>
              </a:rPr>
              <a:t>88%</a:t>
            </a:r>
            <a:r>
              <a:rPr lang="en-US" altLang="en-US" dirty="0">
                <a:latin typeface="Times New Roman" panose="02020603050405020304" pitchFamily="18" charset="0"/>
                <a:cs typeface="Times New Roman" panose="02020603050405020304" pitchFamily="18" charset="0"/>
              </a:rPr>
              <a:t> and FAR exceeding </a:t>
            </a:r>
            <a:r>
              <a:rPr lang="en-US" altLang="en-US" b="1" dirty="0">
                <a:latin typeface="Times New Roman" panose="02020603050405020304" pitchFamily="18" charset="0"/>
                <a:cs typeface="Times New Roman" panose="02020603050405020304" pitchFamily="18" charset="0"/>
              </a:rPr>
              <a:t>14%</a:t>
            </a:r>
            <a:r>
              <a:rPr lang="en-US" altLang="en-US" dirty="0">
                <a:latin typeface="Times New Roman" panose="02020603050405020304" pitchFamily="18" charset="0"/>
                <a:cs typeface="Times New Roman" panose="02020603050405020304" pitchFamily="18" charset="0"/>
              </a:rPr>
              <a:t>, proving linear boundaries are insufficient for capturing complex attack patterns. </a:t>
            </a:r>
          </a:p>
          <a:p>
            <a:pPr marL="285750" indent="-285750" eaLnBrk="0" fontAlgn="base" hangingPunct="0">
              <a:lnSpc>
                <a:spcPct val="150000"/>
              </a:lnSpc>
              <a:spcBef>
                <a:spcPct val="0"/>
              </a:spcBef>
              <a:spcAft>
                <a:spcPct val="0"/>
              </a:spcAft>
              <a:buFont typeface="Arial" panose="020B0604020202020204" pitchFamily="34" charset="0"/>
              <a:buChar char="•"/>
            </a:pPr>
            <a:r>
              <a:rPr lang="en-US" altLang="en-US" dirty="0" err="1">
                <a:latin typeface="Times New Roman" panose="02020603050405020304" pitchFamily="18" charset="0"/>
                <a:cs typeface="Times New Roman" panose="02020603050405020304" pitchFamily="18" charset="0"/>
              </a:rPr>
              <a:t>XGBoost</a:t>
            </a:r>
            <a:r>
              <a:rPr lang="en-US" altLang="en-US" dirty="0">
                <a:latin typeface="Times New Roman" panose="02020603050405020304" pitchFamily="18" charset="0"/>
                <a:cs typeface="Times New Roman" panose="02020603050405020304" pitchFamily="18" charset="0"/>
              </a:rPr>
              <a:t> demonstrated the highest consistency across all 5 folds </a:t>
            </a:r>
            <a:r>
              <a:rPr lang="en-US" altLang="en-US" b="1" dirty="0">
                <a:latin typeface="Times New Roman" panose="02020603050405020304" pitchFamily="18" charset="0"/>
                <a:cs typeface="Times New Roman" panose="02020603050405020304" pitchFamily="18" charset="0"/>
              </a:rPr>
              <a:t>(F1 ±0.08%)</a:t>
            </a:r>
            <a:r>
              <a:rPr lang="en-US" altLang="en-US" dirty="0">
                <a:latin typeface="Times New Roman" panose="02020603050405020304" pitchFamily="18" charset="0"/>
                <a:cs typeface="Times New Roman" panose="02020603050405020304" pitchFamily="18" charset="0"/>
              </a:rPr>
              <a:t>, confirming it delivers both superior accuracy and the most stable and reliable results. </a:t>
            </a:r>
          </a:p>
          <a:p>
            <a:pPr marL="457200" lvl="0" indent="-457200" eaLnBrk="0" fontAlgn="base" hangingPunct="0">
              <a:lnSpc>
                <a:spcPct val="150000"/>
              </a:lnSpc>
              <a:spcBef>
                <a:spcPct val="0"/>
              </a:spcBef>
              <a:spcAft>
                <a:spcPct val="0"/>
              </a:spcAft>
              <a:buFont typeface="Arial" panose="020B0604020202020204" pitchFamily="34" charset="0"/>
              <a:buChar char="•"/>
            </a:pPr>
            <a:endParaRPr lang="en-IN" sz="3600"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12" name="TextBox 11">
            <a:extLst>
              <a:ext uri="{FF2B5EF4-FFF2-40B4-BE49-F238E27FC236}">
                <a16:creationId xmlns:a16="http://schemas.microsoft.com/office/drawing/2014/main" id="{CCE0EDA5-B1FC-12A4-43E2-CB1DA27792F1}"/>
              </a:ext>
            </a:extLst>
          </p:cNvPr>
          <p:cNvSpPr txBox="1"/>
          <p:nvPr/>
        </p:nvSpPr>
        <p:spPr>
          <a:xfrm>
            <a:off x="891251" y="520861"/>
            <a:ext cx="4293740" cy="707886"/>
          </a:xfrm>
          <a:prstGeom prst="rect">
            <a:avLst/>
          </a:prstGeom>
          <a:noFill/>
        </p:spPr>
        <p:txBody>
          <a:bodyPr wrap="none" rtlCol="0">
            <a:spAutoFit/>
          </a:bodyPr>
          <a:lstStyle/>
          <a:p>
            <a:r>
              <a:rPr lang="en-IN" sz="4000" b="1" dirty="0">
                <a:solidFill>
                  <a:srgbClr val="0070C0"/>
                </a:solidFill>
                <a:latin typeface="Times New Roman" panose="02020603050405020304" pitchFamily="18" charset="0"/>
                <a:ea typeface="MS Mincho" panose="02020609040205080304" pitchFamily="49" charset="-128"/>
                <a:cs typeface="Times New Roman" panose="02020603050405020304" pitchFamily="18" charset="0"/>
              </a:rPr>
              <a:t>Results &amp; Analysis</a:t>
            </a:r>
            <a:endParaRPr lang="en-US" alt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6948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968419-6AC9-963C-649F-9B2292097EB9}"/>
              </a:ext>
            </a:extLst>
          </p:cNvPr>
          <p:cNvSpPr txBox="1"/>
          <p:nvPr/>
        </p:nvSpPr>
        <p:spPr>
          <a:xfrm>
            <a:off x="438224" y="361362"/>
            <a:ext cx="8529507" cy="710964"/>
          </a:xfrm>
          <a:prstGeom prst="rect">
            <a:avLst/>
          </a:prstGeom>
          <a:noFill/>
        </p:spPr>
        <p:txBody>
          <a:bodyPr wrap="square">
            <a:spAutoFit/>
          </a:bodyPr>
          <a:lstStyle/>
          <a:p>
            <a:pPr marL="342900" indent="-342900">
              <a:lnSpc>
                <a:spcPct val="115000"/>
              </a:lnSpc>
              <a:spcAft>
                <a:spcPts val="1000"/>
              </a:spcAft>
              <a:buFont typeface="Wingdings" panose="05000000000000000000" pitchFamily="2" charset="2"/>
              <a:buChar char="q"/>
            </a:pPr>
            <a:r>
              <a:rPr lang="en-IN" sz="3800" b="1"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rPr>
              <a:t> Conclusion</a:t>
            </a:r>
            <a:endParaRPr lang="en-IN" sz="3800"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endParaRPr>
          </a:p>
        </p:txBody>
      </p:sp>
      <p:grpSp>
        <p:nvGrpSpPr>
          <p:cNvPr id="2" name="Google Shape;109;p21">
            <a:extLst>
              <a:ext uri="{FF2B5EF4-FFF2-40B4-BE49-F238E27FC236}">
                <a16:creationId xmlns:a16="http://schemas.microsoft.com/office/drawing/2014/main" id="{73FF1370-F20D-B513-ED32-25FA32FDC038}"/>
              </a:ext>
            </a:extLst>
          </p:cNvPr>
          <p:cNvGrpSpPr/>
          <p:nvPr/>
        </p:nvGrpSpPr>
        <p:grpSpPr>
          <a:xfrm>
            <a:off x="0" y="6471667"/>
            <a:ext cx="12191999" cy="386333"/>
            <a:chOff x="0" y="6342887"/>
            <a:chExt cx="12191999" cy="515111"/>
          </a:xfrm>
        </p:grpSpPr>
        <p:pic>
          <p:nvPicPr>
            <p:cNvPr id="4" name="Google Shape;110;p21">
              <a:extLst>
                <a:ext uri="{FF2B5EF4-FFF2-40B4-BE49-F238E27FC236}">
                  <a16:creationId xmlns:a16="http://schemas.microsoft.com/office/drawing/2014/main" id="{845FE8BA-4306-A013-211C-5AF96792898B}"/>
                </a:ext>
              </a:extLst>
            </p:cNvPr>
            <p:cNvPicPr preferRelativeResize="0"/>
            <p:nvPr/>
          </p:nvPicPr>
          <p:blipFill rotWithShape="1">
            <a:blip r:embed="rId3">
              <a:alphaModFix/>
            </a:blip>
            <a:srcRect/>
            <a:stretch/>
          </p:blipFill>
          <p:spPr>
            <a:xfrm>
              <a:off x="126492" y="6490714"/>
              <a:ext cx="1781556" cy="313944"/>
            </a:xfrm>
            <a:prstGeom prst="rect">
              <a:avLst/>
            </a:prstGeom>
            <a:noFill/>
            <a:ln>
              <a:noFill/>
            </a:ln>
          </p:spPr>
        </p:pic>
        <p:pic>
          <p:nvPicPr>
            <p:cNvPr id="5" name="Google Shape;111;p21">
              <a:extLst>
                <a:ext uri="{FF2B5EF4-FFF2-40B4-BE49-F238E27FC236}">
                  <a16:creationId xmlns:a16="http://schemas.microsoft.com/office/drawing/2014/main" id="{6EDCE7DD-26E3-0388-0362-A23C4E268BFE}"/>
                </a:ext>
              </a:extLst>
            </p:cNvPr>
            <p:cNvPicPr preferRelativeResize="0"/>
            <p:nvPr/>
          </p:nvPicPr>
          <p:blipFill rotWithShape="1">
            <a:blip r:embed="rId4">
              <a:alphaModFix/>
            </a:blip>
            <a:srcRect/>
            <a:stretch/>
          </p:blipFill>
          <p:spPr>
            <a:xfrm>
              <a:off x="0" y="6342887"/>
              <a:ext cx="12191999" cy="515111"/>
            </a:xfrm>
            <a:prstGeom prst="rect">
              <a:avLst/>
            </a:prstGeom>
            <a:noFill/>
            <a:ln>
              <a:noFill/>
            </a:ln>
          </p:spPr>
        </p:pic>
        <p:pic>
          <p:nvPicPr>
            <p:cNvPr id="6" name="Google Shape;112;p21">
              <a:extLst>
                <a:ext uri="{FF2B5EF4-FFF2-40B4-BE49-F238E27FC236}">
                  <a16:creationId xmlns:a16="http://schemas.microsoft.com/office/drawing/2014/main" id="{6C4C220F-75F4-BF03-D502-F0A5B87BA5C7}"/>
                </a:ext>
              </a:extLst>
            </p:cNvPr>
            <p:cNvPicPr preferRelativeResize="0"/>
            <p:nvPr/>
          </p:nvPicPr>
          <p:blipFill rotWithShape="1">
            <a:blip r:embed="rId3">
              <a:alphaModFix/>
            </a:blip>
            <a:srcRect/>
            <a:stretch/>
          </p:blipFill>
          <p:spPr>
            <a:xfrm>
              <a:off x="222503" y="6446518"/>
              <a:ext cx="1781556" cy="313942"/>
            </a:xfrm>
            <a:prstGeom prst="rect">
              <a:avLst/>
            </a:prstGeom>
            <a:noFill/>
            <a:ln>
              <a:noFill/>
            </a:ln>
          </p:spPr>
        </p:pic>
      </p:grpSp>
      <p:sp>
        <p:nvSpPr>
          <p:cNvPr id="11" name="Rectangle 4">
            <a:extLst>
              <a:ext uri="{FF2B5EF4-FFF2-40B4-BE49-F238E27FC236}">
                <a16:creationId xmlns:a16="http://schemas.microsoft.com/office/drawing/2014/main" id="{843B7005-6677-53DC-9699-5E5E974FF5EA}"/>
              </a:ext>
            </a:extLst>
          </p:cNvPr>
          <p:cNvSpPr>
            <a:spLocks noChangeArrowheads="1"/>
          </p:cNvSpPr>
          <p:nvPr/>
        </p:nvSpPr>
        <p:spPr bwMode="auto">
          <a:xfrm>
            <a:off x="694481" y="1350426"/>
            <a:ext cx="10243595"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5-Fold Cross-Validation, SMOTE-based imbalance handling, and 6 engineered features were applied, producing more reliable and unbiased evaluation results across all models.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LightGBM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delivered the strongest performance, with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achieving the best overall result of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94.42% accuracy, 95.61% F1-Score, and 0.9907 AUC.</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 achieved the lowest False Alarm Rate of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5.01%</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while linear models (Logistic Regression &amp; SVM) underperformed due to the non-linear nature of attack patterns.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research confirms that combining rigorous evaluation methodology, advanced ensemble models, and domain-driven feature engineering significantly enhances the detection capability and reliability of an Intrusion Detection System. </a:t>
            </a:r>
          </a:p>
        </p:txBody>
      </p:sp>
    </p:spTree>
    <p:extLst>
      <p:ext uri="{BB962C8B-B14F-4D97-AF65-F5344CB8AC3E}">
        <p14:creationId xmlns:p14="http://schemas.microsoft.com/office/powerpoint/2010/main" val="1250966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56945-6F2E-F3C9-0670-69421703375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C3B329F-B6FF-CAA2-E168-4698384CD18E}"/>
              </a:ext>
            </a:extLst>
          </p:cNvPr>
          <p:cNvSpPr txBox="1"/>
          <p:nvPr/>
        </p:nvSpPr>
        <p:spPr>
          <a:xfrm>
            <a:off x="661752" y="729834"/>
            <a:ext cx="8529507" cy="710964"/>
          </a:xfrm>
          <a:prstGeom prst="rect">
            <a:avLst/>
          </a:prstGeom>
          <a:noFill/>
        </p:spPr>
        <p:txBody>
          <a:bodyPr wrap="square">
            <a:spAutoFit/>
          </a:bodyPr>
          <a:lstStyle/>
          <a:p>
            <a:pPr marL="342900" indent="-342900">
              <a:lnSpc>
                <a:spcPct val="115000"/>
              </a:lnSpc>
              <a:spcAft>
                <a:spcPts val="1000"/>
              </a:spcAft>
              <a:buFont typeface="Wingdings" panose="05000000000000000000" pitchFamily="2" charset="2"/>
              <a:buChar char="q"/>
            </a:pPr>
            <a:r>
              <a:rPr lang="en-IN" sz="3800" b="1"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IN" sz="3800" b="1" dirty="0">
                <a:solidFill>
                  <a:srgbClr val="0070C0"/>
                </a:solidFill>
                <a:latin typeface="Times New Roman" panose="02020603050405020304" pitchFamily="18" charset="0"/>
                <a:ea typeface="MS Mincho" panose="02020609040205080304" pitchFamily="49" charset="-128"/>
                <a:cs typeface="Times New Roman" panose="02020603050405020304" pitchFamily="18" charset="0"/>
              </a:rPr>
              <a:t>References</a:t>
            </a:r>
            <a:endParaRPr lang="en-IN" sz="3800" dirty="0">
              <a:solidFill>
                <a:srgbClr val="0070C0"/>
              </a:solidFill>
              <a:effectLst/>
              <a:latin typeface="Times New Roman" panose="02020603050405020304" pitchFamily="18" charset="0"/>
              <a:ea typeface="MS Mincho" panose="02020609040205080304" pitchFamily="49" charset="-128"/>
              <a:cs typeface="Times New Roman" panose="02020603050405020304" pitchFamily="18" charset="0"/>
            </a:endParaRPr>
          </a:p>
        </p:txBody>
      </p:sp>
      <p:grpSp>
        <p:nvGrpSpPr>
          <p:cNvPr id="2" name="Google Shape;109;p21">
            <a:extLst>
              <a:ext uri="{FF2B5EF4-FFF2-40B4-BE49-F238E27FC236}">
                <a16:creationId xmlns:a16="http://schemas.microsoft.com/office/drawing/2014/main" id="{419B9AB1-536F-18D2-7B14-99AAC1483E06}"/>
              </a:ext>
            </a:extLst>
          </p:cNvPr>
          <p:cNvGrpSpPr/>
          <p:nvPr/>
        </p:nvGrpSpPr>
        <p:grpSpPr>
          <a:xfrm>
            <a:off x="0" y="6471667"/>
            <a:ext cx="12191999" cy="386333"/>
            <a:chOff x="0" y="6342887"/>
            <a:chExt cx="12191999" cy="515111"/>
          </a:xfrm>
        </p:grpSpPr>
        <p:pic>
          <p:nvPicPr>
            <p:cNvPr id="4" name="Google Shape;110;p21">
              <a:extLst>
                <a:ext uri="{FF2B5EF4-FFF2-40B4-BE49-F238E27FC236}">
                  <a16:creationId xmlns:a16="http://schemas.microsoft.com/office/drawing/2014/main" id="{72CAE5CA-D397-0BBC-1DED-421F8A1300E4}"/>
                </a:ext>
              </a:extLst>
            </p:cNvPr>
            <p:cNvPicPr preferRelativeResize="0"/>
            <p:nvPr/>
          </p:nvPicPr>
          <p:blipFill rotWithShape="1">
            <a:blip r:embed="rId2">
              <a:alphaModFix/>
            </a:blip>
            <a:srcRect/>
            <a:stretch/>
          </p:blipFill>
          <p:spPr>
            <a:xfrm>
              <a:off x="126492" y="6490714"/>
              <a:ext cx="1781556" cy="313944"/>
            </a:xfrm>
            <a:prstGeom prst="rect">
              <a:avLst/>
            </a:prstGeom>
            <a:noFill/>
            <a:ln>
              <a:noFill/>
            </a:ln>
          </p:spPr>
        </p:pic>
        <p:pic>
          <p:nvPicPr>
            <p:cNvPr id="5" name="Google Shape;111;p21">
              <a:extLst>
                <a:ext uri="{FF2B5EF4-FFF2-40B4-BE49-F238E27FC236}">
                  <a16:creationId xmlns:a16="http://schemas.microsoft.com/office/drawing/2014/main" id="{61BE4BE7-9268-F507-C9A2-9112DCC5DCCA}"/>
                </a:ext>
              </a:extLst>
            </p:cNvPr>
            <p:cNvPicPr preferRelativeResize="0"/>
            <p:nvPr/>
          </p:nvPicPr>
          <p:blipFill rotWithShape="1">
            <a:blip r:embed="rId3">
              <a:alphaModFix/>
            </a:blip>
            <a:srcRect/>
            <a:stretch/>
          </p:blipFill>
          <p:spPr>
            <a:xfrm>
              <a:off x="0" y="6342887"/>
              <a:ext cx="12191999" cy="515111"/>
            </a:xfrm>
            <a:prstGeom prst="rect">
              <a:avLst/>
            </a:prstGeom>
            <a:noFill/>
            <a:ln>
              <a:noFill/>
            </a:ln>
          </p:spPr>
        </p:pic>
        <p:pic>
          <p:nvPicPr>
            <p:cNvPr id="6" name="Google Shape;112;p21">
              <a:extLst>
                <a:ext uri="{FF2B5EF4-FFF2-40B4-BE49-F238E27FC236}">
                  <a16:creationId xmlns:a16="http://schemas.microsoft.com/office/drawing/2014/main" id="{FE432A3C-D291-7B35-482A-2F2DFF914F3C}"/>
                </a:ext>
              </a:extLst>
            </p:cNvPr>
            <p:cNvPicPr preferRelativeResize="0"/>
            <p:nvPr/>
          </p:nvPicPr>
          <p:blipFill rotWithShape="1">
            <a:blip r:embed="rId2">
              <a:alphaModFix/>
            </a:blip>
            <a:srcRect/>
            <a:stretch/>
          </p:blipFill>
          <p:spPr>
            <a:xfrm>
              <a:off x="222503" y="6446518"/>
              <a:ext cx="1781556" cy="313942"/>
            </a:xfrm>
            <a:prstGeom prst="rect">
              <a:avLst/>
            </a:prstGeom>
            <a:noFill/>
            <a:ln>
              <a:noFill/>
            </a:ln>
          </p:spPr>
        </p:pic>
      </p:grpSp>
      <p:sp>
        <p:nvSpPr>
          <p:cNvPr id="10" name="TextBox 9">
            <a:extLst>
              <a:ext uri="{FF2B5EF4-FFF2-40B4-BE49-F238E27FC236}">
                <a16:creationId xmlns:a16="http://schemas.microsoft.com/office/drawing/2014/main" id="{732AA5EA-7AB9-2395-8BA6-F87CC4E2C544}"/>
              </a:ext>
            </a:extLst>
          </p:cNvPr>
          <p:cNvSpPr txBox="1"/>
          <p:nvPr/>
        </p:nvSpPr>
        <p:spPr>
          <a:xfrm>
            <a:off x="936072" y="1660453"/>
            <a:ext cx="10868493" cy="4524315"/>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[1] Theodosis </a:t>
            </a:r>
            <a:r>
              <a:rPr lang="en-IN" dirty="0" err="1">
                <a:latin typeface="Times New Roman" panose="02020603050405020304" pitchFamily="18" charset="0"/>
                <a:cs typeface="Times New Roman" panose="02020603050405020304" pitchFamily="18" charset="0"/>
              </a:rPr>
              <a:t>Mourouzis</a:t>
            </a:r>
            <a:r>
              <a:rPr lang="en-IN" dirty="0">
                <a:latin typeface="Times New Roman" panose="02020603050405020304" pitchFamily="18" charset="0"/>
                <a:cs typeface="Times New Roman" panose="02020603050405020304" pitchFamily="18" charset="0"/>
              </a:rPr>
              <a:t> et al., Intrusion Detection with Machine Learning Using Open-Sourced Datasets, </a:t>
            </a:r>
            <a:r>
              <a:rPr lang="en-IN" dirty="0" err="1">
                <a:latin typeface="Times New Roman" panose="02020603050405020304" pitchFamily="18" charset="0"/>
                <a:cs typeface="Times New Roman" panose="02020603050405020304" pitchFamily="18" charset="0"/>
              </a:rPr>
              <a:t>arXiv</a:t>
            </a:r>
            <a:r>
              <a:rPr lang="en-IN" dirty="0">
                <a:latin typeface="Times New Roman" panose="02020603050405020304" pitchFamily="18" charset="0"/>
                <a:cs typeface="Times New Roman" panose="02020603050405020304" pitchFamily="18" charset="0"/>
              </a:rPr>
              <a:t>, 2021.</a:t>
            </a:r>
          </a:p>
          <a:p>
            <a:r>
              <a:rPr lang="en-IN" dirty="0">
                <a:latin typeface="Times New Roman" panose="02020603050405020304" pitchFamily="18" charset="0"/>
                <a:cs typeface="Times New Roman" panose="02020603050405020304" pitchFamily="18" charset="0"/>
              </a:rPr>
              <a:t>https://arxiv.org/pdf/2107.12621</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[2] A. G. Mari et al., Development of a Machine Learning Intrusion Detection Model, PMC, 2023.</a:t>
            </a:r>
          </a:p>
          <a:p>
            <a:r>
              <a:rPr lang="en-IN" dirty="0">
                <a:latin typeface="Times New Roman" panose="02020603050405020304" pitchFamily="18" charset="0"/>
                <a:cs typeface="Times New Roman" panose="02020603050405020304" pitchFamily="18" charset="0"/>
              </a:rPr>
              <a:t>https://pmc.ncbi.nlm.nih.gov/articles/PMC9919617/</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[3] M. Vishwakarma et al., A Two-Phase Intrusion Detection System Using Machine Learning, ScienceDirect, 2023.</a:t>
            </a:r>
          </a:p>
          <a:p>
            <a:r>
              <a:rPr lang="en-IN" dirty="0">
                <a:latin typeface="Times New Roman" panose="02020603050405020304" pitchFamily="18" charset="0"/>
                <a:cs typeface="Times New Roman" panose="02020603050405020304" pitchFamily="18" charset="0"/>
              </a:rPr>
              <a:t>https://www.sciencedirect.com/science/article/pii/S2772662223000735</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[4] P. </a:t>
            </a:r>
            <a:r>
              <a:rPr lang="en-IN" dirty="0" err="1">
                <a:latin typeface="Times New Roman" panose="02020603050405020304" pitchFamily="18" charset="0"/>
                <a:cs typeface="Times New Roman" panose="02020603050405020304" pitchFamily="18" charset="0"/>
              </a:rPr>
              <a:t>Waghmode</a:t>
            </a:r>
            <a:r>
              <a:rPr lang="en-IN" dirty="0">
                <a:latin typeface="Times New Roman" panose="02020603050405020304" pitchFamily="18" charset="0"/>
                <a:cs typeface="Times New Roman" panose="02020603050405020304" pitchFamily="18" charset="0"/>
              </a:rPr>
              <a:t> et al., Intrusion Detection System Based on Machine Learning Techniques, Nature Scientific Reports, 2025.</a:t>
            </a:r>
          </a:p>
          <a:p>
            <a:r>
              <a:rPr lang="en-IN" dirty="0">
                <a:latin typeface="Times New Roman" panose="02020603050405020304" pitchFamily="18" charset="0"/>
                <a:cs typeface="Times New Roman" panose="02020603050405020304" pitchFamily="18" charset="0"/>
              </a:rPr>
              <a:t>https://www.nature.com/articles/s41598-025-95621-7</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[5] MLIDS: A Machine Learning-Based Intrusion Detection System, IJISAE, 2023.</a:t>
            </a:r>
          </a:p>
          <a:p>
            <a:r>
              <a:rPr lang="en-IN" dirty="0">
                <a:latin typeface="Times New Roman" panose="02020603050405020304" pitchFamily="18" charset="0"/>
                <a:cs typeface="Times New Roman" panose="02020603050405020304" pitchFamily="18" charset="0"/>
              </a:rPr>
              <a:t>https://ijisae.org/index.php/IJISAE/article/view/3761</a:t>
            </a:r>
          </a:p>
        </p:txBody>
      </p:sp>
    </p:spTree>
    <p:extLst>
      <p:ext uri="{BB962C8B-B14F-4D97-AF65-F5344CB8AC3E}">
        <p14:creationId xmlns:p14="http://schemas.microsoft.com/office/powerpoint/2010/main" val="20537990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23A565-F30C-9CFF-02BD-EF04E9AF4B0F}"/>
              </a:ext>
            </a:extLst>
          </p:cNvPr>
          <p:cNvSpPr txBox="1"/>
          <p:nvPr/>
        </p:nvSpPr>
        <p:spPr>
          <a:xfrm>
            <a:off x="3327633" y="2499919"/>
            <a:ext cx="5536734" cy="1524841"/>
          </a:xfrm>
          <a:prstGeom prst="rect">
            <a:avLst/>
          </a:prstGeom>
          <a:noFill/>
        </p:spPr>
        <p:txBody>
          <a:bodyPr wrap="square">
            <a:spAutoFit/>
          </a:bodyPr>
          <a:lstStyle/>
          <a:p>
            <a:pPr>
              <a:lnSpc>
                <a:spcPct val="115000"/>
              </a:lnSpc>
              <a:spcAft>
                <a:spcPts val="1000"/>
              </a:spcAft>
              <a:buNone/>
            </a:pPr>
            <a:r>
              <a:rPr lang="en-IN" sz="8800" b="1" dirty="0">
                <a:solidFill>
                  <a:srgbClr val="C00000"/>
                </a:solidFill>
                <a:effectLst/>
                <a:latin typeface="Times New Roman" panose="02020603050405020304" pitchFamily="18" charset="0"/>
                <a:ea typeface="MS Mincho" panose="02020609040205080304" pitchFamily="49" charset="-128"/>
                <a:cs typeface="Times New Roman" panose="02020603050405020304" pitchFamily="18" charset="0"/>
              </a:rPr>
              <a:t>Thank You</a:t>
            </a:r>
            <a:endParaRPr lang="en-IN" sz="8800" dirty="0">
              <a:solidFill>
                <a:srgbClr val="C00000"/>
              </a:solidFill>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4697969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3326</TotalTime>
  <Words>3595</Words>
  <Application>Microsoft Office PowerPoint</Application>
  <PresentationFormat>Widescreen</PresentationFormat>
  <Paragraphs>335</Paragraphs>
  <Slides>18</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Aptos</vt:lpstr>
      <vt:lpstr>Arial</vt:lpstr>
      <vt:lpstr>Calibri</vt:lpstr>
      <vt:lpstr>Calibri Light</vt:lpstr>
      <vt:lpstr>Symbol</vt:lpstr>
      <vt:lpstr>Times New Roman</vt:lpstr>
      <vt:lpstr>Wingdings</vt:lpstr>
      <vt:lpstr>Office Theme</vt:lpstr>
      <vt:lpstr> “Machine Learning Based Intrusion Detection System Using the UNSW-NB15 Dataset”    </vt:lpstr>
      <vt:lpstr>PowerPoint Presentation</vt:lpstr>
      <vt:lpstr> Introduction </vt:lpstr>
      <vt:lpstr>PowerPoint Presentation</vt:lpstr>
      <vt:lpstr>PowerPoint Presentation</vt:lpstr>
      <vt:lpstr>PowerPoint Presentation</vt:lpstr>
      <vt:lpstr>Literature Survey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maha jaanu</dc:creator>
  <cp:lastModifiedBy>LELLA JAHNAVI SAI av.sc.u4cse23024</cp:lastModifiedBy>
  <cp:revision>29</cp:revision>
  <dcterms:created xsi:type="dcterms:W3CDTF">2026-02-24T17:28:42Z</dcterms:created>
  <dcterms:modified xsi:type="dcterms:W3CDTF">2026-03-20T19:25:49Z</dcterms:modified>
</cp:coreProperties>
</file>